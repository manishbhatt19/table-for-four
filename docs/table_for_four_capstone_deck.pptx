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6949440" y="4160520"/>
            <a:ext cx="5242255" cy="2697480"/>
          </a:xfrm>
          <a:prstGeom prst="rtTriangle">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1600200"/>
            <a:ext cx="1005840" cy="508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8595360" cy="1371600"/>
          </a:xfrm>
          <a:prstGeom prst="rect">
            <a:avLst/>
          </a:prstGeom>
          <a:noFill/>
        </p:spPr>
        <p:txBody>
          <a:bodyPr wrap="square" lIns="0" rIns="0" tIns="0" bIns="0" anchor="t">
            <a:spAutoFit/>
          </a:bodyPr>
          <a:lstStyle/>
          <a:p>
            <a:pPr algn="l">
              <a:lnSpc>
                <a:spcPct val="100000"/>
              </a:lnSpc>
            </a:pPr>
            <a:r>
              <a:rPr sz="5400" b="1">
                <a:solidFill>
                  <a:srgbClr val="FFFFFF"/>
                </a:solidFill>
                <a:latin typeface="Georgia"/>
              </a:rPr>
              <a:t>Table for Four</a:t>
            </a:r>
          </a:p>
        </p:txBody>
      </p:sp>
      <p:sp>
        <p:nvSpPr>
          <p:cNvPr id="6" name="TextBox 5"/>
          <p:cNvSpPr txBox="1"/>
          <p:nvPr/>
        </p:nvSpPr>
        <p:spPr>
          <a:xfrm>
            <a:off x="868680" y="3063240"/>
            <a:ext cx="7863840" cy="914400"/>
          </a:xfrm>
          <a:prstGeom prst="rect">
            <a:avLst/>
          </a:prstGeom>
          <a:noFill/>
        </p:spPr>
        <p:txBody>
          <a:bodyPr wrap="square" lIns="0" rIns="0" tIns="0" bIns="0" anchor="t">
            <a:spAutoFit/>
          </a:bodyPr>
          <a:lstStyle/>
          <a:p>
            <a:pPr algn="l">
              <a:lnSpc>
                <a:spcPct val="125000"/>
              </a:lnSpc>
            </a:pPr>
            <a:r>
              <a:rPr sz="1900" b="0">
                <a:solidFill>
                  <a:srgbClr val="C9CFD8"/>
                </a:solidFill>
                <a:latin typeface="Segoe UI"/>
              </a:rPr>
              <a:t>An agent that finds a restaurant and books the table,
with a person approving the booking</a:t>
            </a:r>
          </a:p>
        </p:txBody>
      </p:sp>
      <p:sp>
        <p:nvSpPr>
          <p:cNvPr id="7" name="TextBox 6"/>
          <p:cNvSpPr txBox="1"/>
          <p:nvPr/>
        </p:nvSpPr>
        <p:spPr>
          <a:xfrm>
            <a:off x="868680" y="4069080"/>
            <a:ext cx="7863840" cy="365760"/>
          </a:xfrm>
          <a:prstGeom prst="rect">
            <a:avLst/>
          </a:prstGeom>
          <a:noFill/>
        </p:spPr>
        <p:txBody>
          <a:bodyPr wrap="square" lIns="0" rIns="0" tIns="0" bIns="0" anchor="t">
            <a:spAutoFit/>
          </a:bodyPr>
          <a:lstStyle/>
          <a:p>
            <a:pPr algn="l">
              <a:lnSpc>
                <a:spcPct val="100000"/>
              </a:lnSpc>
            </a:pPr>
            <a:r>
              <a:rPr sz="1150" b="0">
                <a:solidFill>
                  <a:srgbClr val="9AA3B0"/>
                </a:solidFill>
                <a:latin typeface="Segoe UI"/>
              </a:rPr>
              <a:t>MCP tools  ·  LangGraph  ·  retrieval  ·  long term memory  ·  approval gate  ·  audit trail</a:t>
            </a:r>
          </a:p>
        </p:txBody>
      </p:sp>
      <p:sp>
        <p:nvSpPr>
          <p:cNvPr id="8" name="TextBox 7"/>
          <p:cNvSpPr txBox="1"/>
          <p:nvPr/>
        </p:nvSpPr>
        <p:spPr>
          <a:xfrm>
            <a:off x="868680" y="5074920"/>
            <a:ext cx="5852160" cy="1005840"/>
          </a:xfrm>
          <a:prstGeom prst="rect">
            <a:avLst/>
          </a:prstGeom>
          <a:noFill/>
        </p:spPr>
        <p:txBody>
          <a:bodyPr wrap="square" lIns="0" rIns="0" tIns="0" bIns="0" anchor="t">
            <a:spAutoFit/>
          </a:bodyPr>
          <a:lstStyle/>
          <a:p>
            <a:pPr algn="l">
              <a:lnSpc>
                <a:spcPct val="100000"/>
              </a:lnSpc>
            </a:pPr>
            <a:r>
              <a:rPr sz="1600" b="1">
                <a:solidFill>
                  <a:srgbClr val="FFFFFF"/>
                </a:solidFill>
                <a:latin typeface="Segoe UI"/>
              </a:rPr>
              <a:t>Manish Bhatt</a:t>
            </a:r>
          </a:p>
        </p:txBody>
      </p:sp>
      <p:sp>
        <p:nvSpPr>
          <p:cNvPr id="9" name="TextBox 8"/>
          <p:cNvSpPr txBox="1"/>
          <p:nvPr/>
        </p:nvSpPr>
        <p:spPr>
          <a:xfrm>
            <a:off x="868680" y="5440680"/>
            <a:ext cx="5852160" cy="822960"/>
          </a:xfrm>
          <a:prstGeom prst="rect">
            <a:avLst/>
          </a:prstGeom>
          <a:noFill/>
        </p:spPr>
        <p:txBody>
          <a:bodyPr wrap="square" lIns="0" rIns="0" tIns="0" bIns="0" anchor="t">
            <a:spAutoFit/>
          </a:bodyPr>
          <a:lstStyle/>
          <a:p>
            <a:pPr algn="l">
              <a:lnSpc>
                <a:spcPct val="130000"/>
              </a:lnSpc>
            </a:pPr>
            <a:r>
              <a:rPr sz="1200" b="0">
                <a:solidFill>
                  <a:srgbClr val="9AA3B0"/>
                </a:solidFill>
                <a:latin typeface="Segoe UI"/>
              </a:rPr>
              <a:t>CMU AI Agent Certification  ·  Capstone Final Report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WHAT THIS DECK COVERS</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The ten topics, in order</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2</a:t>
            </a:r>
          </a:p>
        </p:txBody>
      </p:sp>
      <p:sp>
        <p:nvSpPr>
          <p:cNvPr id="7" name="Rectangle 6"/>
          <p:cNvSpPr/>
          <p:nvPr/>
        </p:nvSpPr>
        <p:spPr>
          <a:xfrm>
            <a:off x="777240" y="1965960"/>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66544"/>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1</a:t>
            </a:r>
          </a:p>
        </p:txBody>
      </p:sp>
      <p:sp>
        <p:nvSpPr>
          <p:cNvPr id="9" name="TextBox 8"/>
          <p:cNvSpPr txBox="1"/>
          <p:nvPr/>
        </p:nvSpPr>
        <p:spPr>
          <a:xfrm>
            <a:off x="1435608" y="1984248"/>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Project title</a:t>
            </a:r>
          </a:p>
        </p:txBody>
      </p:sp>
      <p:sp>
        <p:nvSpPr>
          <p:cNvPr id="10" name="TextBox 9"/>
          <p:cNvSpPr txBox="1"/>
          <p:nvPr/>
        </p:nvSpPr>
        <p:spPr>
          <a:xfrm>
            <a:off x="1435608" y="2221992"/>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Table for Four</a:t>
            </a:r>
          </a:p>
        </p:txBody>
      </p:sp>
      <p:sp>
        <p:nvSpPr>
          <p:cNvPr id="11" name="Rectangle 10"/>
          <p:cNvSpPr/>
          <p:nvPr/>
        </p:nvSpPr>
        <p:spPr>
          <a:xfrm>
            <a:off x="777240" y="2752344"/>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852928"/>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2</a:t>
            </a:r>
          </a:p>
        </p:txBody>
      </p:sp>
      <p:sp>
        <p:nvSpPr>
          <p:cNvPr id="13" name="TextBox 12"/>
          <p:cNvSpPr txBox="1"/>
          <p:nvPr/>
        </p:nvSpPr>
        <p:spPr>
          <a:xfrm>
            <a:off x="1435608" y="2770632"/>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Problem and user</a:t>
            </a:r>
          </a:p>
        </p:txBody>
      </p:sp>
      <p:sp>
        <p:nvSpPr>
          <p:cNvPr id="14" name="TextBox 13"/>
          <p:cNvSpPr txBox="1"/>
          <p:nvPr/>
        </p:nvSpPr>
        <p:spPr>
          <a:xfrm>
            <a:off x="1435608" y="3008376"/>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slide 3</a:t>
            </a:r>
          </a:p>
        </p:txBody>
      </p:sp>
      <p:sp>
        <p:nvSpPr>
          <p:cNvPr id="15" name="Rectangle 14"/>
          <p:cNvSpPr/>
          <p:nvPr/>
        </p:nvSpPr>
        <p:spPr>
          <a:xfrm>
            <a:off x="777240" y="3538728"/>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639312"/>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3</a:t>
            </a:r>
          </a:p>
        </p:txBody>
      </p:sp>
      <p:sp>
        <p:nvSpPr>
          <p:cNvPr id="17" name="TextBox 16"/>
          <p:cNvSpPr txBox="1"/>
          <p:nvPr/>
        </p:nvSpPr>
        <p:spPr>
          <a:xfrm>
            <a:off x="1435608" y="3557016"/>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System goal and scope</a:t>
            </a:r>
          </a:p>
        </p:txBody>
      </p:sp>
      <p:sp>
        <p:nvSpPr>
          <p:cNvPr id="18" name="TextBox 17"/>
          <p:cNvSpPr txBox="1"/>
          <p:nvPr/>
        </p:nvSpPr>
        <p:spPr>
          <a:xfrm>
            <a:off x="1435608" y="3794760"/>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slide 4</a:t>
            </a:r>
          </a:p>
        </p:txBody>
      </p:sp>
      <p:sp>
        <p:nvSpPr>
          <p:cNvPr id="19" name="Rectangle 18"/>
          <p:cNvSpPr/>
          <p:nvPr/>
        </p:nvSpPr>
        <p:spPr>
          <a:xfrm>
            <a:off x="777240" y="4325112"/>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425696"/>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4</a:t>
            </a:r>
          </a:p>
        </p:txBody>
      </p:sp>
      <p:sp>
        <p:nvSpPr>
          <p:cNvPr id="21" name="TextBox 20"/>
          <p:cNvSpPr txBox="1"/>
          <p:nvPr/>
        </p:nvSpPr>
        <p:spPr>
          <a:xfrm>
            <a:off x="1435608" y="4343400"/>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Final system architecture</a:t>
            </a:r>
          </a:p>
        </p:txBody>
      </p:sp>
      <p:sp>
        <p:nvSpPr>
          <p:cNvPr id="22" name="TextBox 21"/>
          <p:cNvSpPr txBox="1"/>
          <p:nvPr/>
        </p:nvSpPr>
        <p:spPr>
          <a:xfrm>
            <a:off x="1435608" y="4581144"/>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slides 5 to 7</a:t>
            </a:r>
          </a:p>
        </p:txBody>
      </p:sp>
      <p:sp>
        <p:nvSpPr>
          <p:cNvPr id="23" name="Rectangle 22"/>
          <p:cNvSpPr/>
          <p:nvPr/>
        </p:nvSpPr>
        <p:spPr>
          <a:xfrm>
            <a:off x="777240" y="5111496"/>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212080"/>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5</a:t>
            </a:r>
          </a:p>
        </p:txBody>
      </p:sp>
      <p:sp>
        <p:nvSpPr>
          <p:cNvPr id="25" name="TextBox 24"/>
          <p:cNvSpPr txBox="1"/>
          <p:nvPr/>
        </p:nvSpPr>
        <p:spPr>
          <a:xfrm>
            <a:off x="1435608" y="5129784"/>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Design evolution</a:t>
            </a:r>
          </a:p>
        </p:txBody>
      </p:sp>
      <p:sp>
        <p:nvSpPr>
          <p:cNvPr id="26" name="TextBox 25"/>
          <p:cNvSpPr txBox="1"/>
          <p:nvPr/>
        </p:nvSpPr>
        <p:spPr>
          <a:xfrm>
            <a:off x="1435608" y="5367528"/>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slide 8</a:t>
            </a:r>
          </a:p>
        </p:txBody>
      </p:sp>
      <p:sp>
        <p:nvSpPr>
          <p:cNvPr id="27" name="Rectangle 26"/>
          <p:cNvSpPr/>
          <p:nvPr/>
        </p:nvSpPr>
        <p:spPr>
          <a:xfrm>
            <a:off x="6263640" y="1965960"/>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2066544"/>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6</a:t>
            </a:r>
          </a:p>
        </p:txBody>
      </p:sp>
      <p:sp>
        <p:nvSpPr>
          <p:cNvPr id="29" name="TextBox 28"/>
          <p:cNvSpPr txBox="1"/>
          <p:nvPr/>
        </p:nvSpPr>
        <p:spPr>
          <a:xfrm>
            <a:off x="6922008" y="1984248"/>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Implementation overview</a:t>
            </a:r>
          </a:p>
        </p:txBody>
      </p:sp>
      <p:sp>
        <p:nvSpPr>
          <p:cNvPr id="30" name="TextBox 29"/>
          <p:cNvSpPr txBox="1"/>
          <p:nvPr/>
        </p:nvSpPr>
        <p:spPr>
          <a:xfrm>
            <a:off x="6922008" y="2221992"/>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slide 9</a:t>
            </a:r>
          </a:p>
        </p:txBody>
      </p:sp>
      <p:sp>
        <p:nvSpPr>
          <p:cNvPr id="31" name="Rectangle 30"/>
          <p:cNvSpPr/>
          <p:nvPr/>
        </p:nvSpPr>
        <p:spPr>
          <a:xfrm>
            <a:off x="6263640" y="2752344"/>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2852928"/>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7</a:t>
            </a:r>
          </a:p>
        </p:txBody>
      </p:sp>
      <p:sp>
        <p:nvSpPr>
          <p:cNvPr id="33" name="TextBox 32"/>
          <p:cNvSpPr txBox="1"/>
          <p:nvPr/>
        </p:nvSpPr>
        <p:spPr>
          <a:xfrm>
            <a:off x="6922008" y="2770632"/>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Evaluation and results</a:t>
            </a:r>
          </a:p>
        </p:txBody>
      </p:sp>
      <p:sp>
        <p:nvSpPr>
          <p:cNvPr id="34" name="TextBox 33"/>
          <p:cNvSpPr txBox="1"/>
          <p:nvPr/>
        </p:nvSpPr>
        <p:spPr>
          <a:xfrm>
            <a:off x="6922008" y="3008376"/>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slide 10</a:t>
            </a:r>
          </a:p>
        </p:txBody>
      </p:sp>
      <p:sp>
        <p:nvSpPr>
          <p:cNvPr id="35" name="Rectangle 34"/>
          <p:cNvSpPr/>
          <p:nvPr/>
        </p:nvSpPr>
        <p:spPr>
          <a:xfrm>
            <a:off x="6263640" y="3538728"/>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3639312"/>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8</a:t>
            </a:r>
          </a:p>
        </p:txBody>
      </p:sp>
      <p:sp>
        <p:nvSpPr>
          <p:cNvPr id="37" name="TextBox 36"/>
          <p:cNvSpPr txBox="1"/>
          <p:nvPr/>
        </p:nvSpPr>
        <p:spPr>
          <a:xfrm>
            <a:off x="6922008" y="3557016"/>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Safety and reliability</a:t>
            </a:r>
          </a:p>
        </p:txBody>
      </p:sp>
      <p:sp>
        <p:nvSpPr>
          <p:cNvPr id="38" name="TextBox 37"/>
          <p:cNvSpPr txBox="1"/>
          <p:nvPr/>
        </p:nvSpPr>
        <p:spPr>
          <a:xfrm>
            <a:off x="6922008" y="3794760"/>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slide 11</a:t>
            </a:r>
          </a:p>
        </p:txBody>
      </p:sp>
      <p:sp>
        <p:nvSpPr>
          <p:cNvPr id="39" name="Rectangle 38"/>
          <p:cNvSpPr/>
          <p:nvPr/>
        </p:nvSpPr>
        <p:spPr>
          <a:xfrm>
            <a:off x="6263640" y="4325112"/>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63640" y="4425696"/>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9</a:t>
            </a:r>
          </a:p>
        </p:txBody>
      </p:sp>
      <p:sp>
        <p:nvSpPr>
          <p:cNvPr id="41" name="TextBox 40"/>
          <p:cNvSpPr txBox="1"/>
          <p:nvPr/>
        </p:nvSpPr>
        <p:spPr>
          <a:xfrm>
            <a:off x="6922008" y="4343400"/>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Limitations and next steps</a:t>
            </a:r>
          </a:p>
        </p:txBody>
      </p:sp>
      <p:sp>
        <p:nvSpPr>
          <p:cNvPr id="42" name="TextBox 41"/>
          <p:cNvSpPr txBox="1"/>
          <p:nvPr/>
        </p:nvSpPr>
        <p:spPr>
          <a:xfrm>
            <a:off x="6922008" y="4581144"/>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slide 12</a:t>
            </a:r>
          </a:p>
        </p:txBody>
      </p:sp>
      <p:sp>
        <p:nvSpPr>
          <p:cNvPr id="43" name="Rectangle 42"/>
          <p:cNvSpPr/>
          <p:nvPr/>
        </p:nvSpPr>
        <p:spPr>
          <a:xfrm>
            <a:off x="6263640" y="5111496"/>
            <a:ext cx="475488" cy="47548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5212080"/>
            <a:ext cx="475488" cy="274320"/>
          </a:xfrm>
          <a:prstGeom prst="rect">
            <a:avLst/>
          </a:prstGeom>
          <a:noFill/>
        </p:spPr>
        <p:txBody>
          <a:bodyPr wrap="square" lIns="0" rIns="0" tIns="0" bIns="0" anchor="t">
            <a:spAutoFit/>
          </a:bodyPr>
          <a:lstStyle/>
          <a:p>
            <a:pPr algn="ctr">
              <a:lnSpc>
                <a:spcPct val="100000"/>
              </a:lnSpc>
            </a:pPr>
            <a:r>
              <a:rPr sz="1400" b="1">
                <a:solidFill>
                  <a:srgbClr val="FFFFFF"/>
                </a:solidFill>
                <a:latin typeface="Georgia"/>
              </a:rPr>
              <a:t>10</a:t>
            </a:r>
          </a:p>
        </p:txBody>
      </p:sp>
      <p:sp>
        <p:nvSpPr>
          <p:cNvPr id="45" name="TextBox 44"/>
          <p:cNvSpPr txBox="1"/>
          <p:nvPr/>
        </p:nvSpPr>
        <p:spPr>
          <a:xfrm>
            <a:off x="6922008" y="5129784"/>
            <a:ext cx="4023360" cy="274320"/>
          </a:xfrm>
          <a:prstGeom prst="rect">
            <a:avLst/>
          </a:prstGeom>
          <a:noFill/>
        </p:spPr>
        <p:txBody>
          <a:bodyPr wrap="square" lIns="0" rIns="0" tIns="0" bIns="0" anchor="t">
            <a:spAutoFit/>
          </a:bodyPr>
          <a:lstStyle/>
          <a:p>
            <a:pPr algn="l">
              <a:lnSpc>
                <a:spcPct val="100000"/>
              </a:lnSpc>
            </a:pPr>
            <a:r>
              <a:rPr sz="1450" b="1">
                <a:solidFill>
                  <a:srgbClr val="1C222E"/>
                </a:solidFill>
                <a:latin typeface="Segoe UI"/>
              </a:rPr>
              <a:t>Public repository</a:t>
            </a:r>
          </a:p>
        </p:txBody>
      </p:sp>
      <p:sp>
        <p:nvSpPr>
          <p:cNvPr id="46" name="TextBox 45"/>
          <p:cNvSpPr txBox="1"/>
          <p:nvPr/>
        </p:nvSpPr>
        <p:spPr>
          <a:xfrm>
            <a:off x="6922008" y="5367528"/>
            <a:ext cx="4023360" cy="274320"/>
          </a:xfrm>
          <a:prstGeom prst="rect">
            <a:avLst/>
          </a:prstGeom>
          <a:noFill/>
        </p:spPr>
        <p:txBody>
          <a:bodyPr wrap="square" lIns="0" rIns="0" tIns="0" bIns="0" anchor="t">
            <a:spAutoFit/>
          </a:bodyPr>
          <a:lstStyle/>
          <a:p>
            <a:pPr algn="l">
              <a:lnSpc>
                <a:spcPct val="100000"/>
              </a:lnSpc>
            </a:pPr>
            <a:r>
              <a:rPr sz="1100" b="0">
                <a:solidFill>
                  <a:srgbClr val="8A929E"/>
                </a:solidFill>
                <a:latin typeface="Segoe UI"/>
              </a:rPr>
              <a:t>slide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2. PROBLEM AND USER</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Booking dinner for a group</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3</a:t>
            </a:r>
          </a:p>
        </p:txBody>
      </p:sp>
      <p:sp>
        <p:nvSpPr>
          <p:cNvPr id="7" name="TextBox 6"/>
          <p:cNvSpPr txBox="1"/>
          <p:nvPr/>
        </p:nvSpPr>
        <p:spPr>
          <a:xfrm>
            <a:off x="777240" y="1783080"/>
            <a:ext cx="10637215" cy="4297680"/>
          </a:xfrm>
          <a:prstGeom prst="rect">
            <a:avLst/>
          </a:prstGeom>
          <a:noFill/>
        </p:spPr>
        <p:txBody>
          <a:bodyPr wrap="square" lIns="0" rIns="0" tIns="0" bIns="0">
            <a:spAutoFit/>
          </a:bodyPr>
          <a:lstStyle/>
          <a:p>
            <a:pPr>
              <a:lnSpc>
                <a:spcPct val="116000"/>
              </a:lnSpc>
              <a:spcAft>
                <a:spcPts val="1600"/>
              </a:spcAft>
            </a:pPr>
            <a:r>
              <a:rPr sz="1450">
                <a:solidFill>
                  <a:srgbClr val="C41230"/>
                </a:solidFill>
                <a:latin typeface="Segoe UI"/>
              </a:rPr>
              <a:t>▸  </a:t>
            </a:r>
            <a:r>
              <a:rPr sz="1450" b="1">
                <a:solidFill>
                  <a:srgbClr val="1C222E"/>
                </a:solidFill>
                <a:latin typeface="Segoe UI"/>
              </a:rPr>
              <a:t>The problem.  </a:t>
            </a:r>
            <a:r>
              <a:rPr sz="1450">
                <a:solidFill>
                  <a:srgbClr val="1C222E"/>
                </a:solidFill>
                <a:latin typeface="Segoe UI"/>
              </a:rPr>
              <a:t>One request has to settle cuisine, area, party size, time, budget, dietary needs and what is actually free that night.</a:t>
            </a:r>
          </a:p>
          <a:p>
            <a:pPr>
              <a:lnSpc>
                <a:spcPct val="116000"/>
              </a:lnSpc>
              <a:spcAft>
                <a:spcPts val="1600"/>
              </a:spcAft>
            </a:pPr>
            <a:r>
              <a:rPr sz="1450">
                <a:solidFill>
                  <a:srgbClr val="C41230"/>
                </a:solidFill>
                <a:latin typeface="Segoe UI"/>
              </a:rPr>
              <a:t>▸  </a:t>
            </a:r>
            <a:r>
              <a:rPr sz="1450" b="1">
                <a:solidFill>
                  <a:srgbClr val="1C222E"/>
                </a:solidFill>
                <a:latin typeface="Segoe UI"/>
              </a:rPr>
              <a:t>The user.  </a:t>
            </a:r>
            <a:r>
              <a:rPr sz="1450">
                <a:solidFill>
                  <a:srgbClr val="1C222E"/>
                </a:solidFill>
                <a:latin typeface="Segoe UI"/>
              </a:rPr>
              <a:t>Whoever ends up organising dinner for everyone else.</a:t>
            </a:r>
          </a:p>
          <a:p>
            <a:pPr>
              <a:lnSpc>
                <a:spcPct val="116000"/>
              </a:lnSpc>
              <a:spcAft>
                <a:spcPts val="1600"/>
              </a:spcAft>
            </a:pPr>
            <a:r>
              <a:rPr sz="1450">
                <a:solidFill>
                  <a:srgbClr val="C41230"/>
                </a:solidFill>
                <a:latin typeface="Segoe UI"/>
              </a:rPr>
              <a:t>▸  </a:t>
            </a:r>
            <a:r>
              <a:rPr sz="1450" b="1">
                <a:solidFill>
                  <a:srgbClr val="1C222E"/>
                </a:solidFill>
                <a:latin typeface="Segoe UI"/>
              </a:rPr>
              <a:t>Why an agent suits it.  </a:t>
            </a:r>
            <a:r>
              <a:rPr sz="1450">
                <a:solidFill>
                  <a:srgbClr val="1C222E"/>
                </a:solidFill>
                <a:latin typeface="Segoe UI"/>
              </a:rPr>
              <a:t>The data is live, the preferences are personal, and the job ends in an action rather than an answer.</a:t>
            </a:r>
          </a:p>
          <a:p>
            <a:pPr>
              <a:lnSpc>
                <a:spcPct val="116000"/>
              </a:lnSpc>
              <a:spcAft>
                <a:spcPts val="1600"/>
              </a:spcAft>
            </a:pPr>
            <a:r>
              <a:rPr sz="1450">
                <a:solidFill>
                  <a:srgbClr val="C41230"/>
                </a:solidFill>
                <a:latin typeface="Segoe UI"/>
              </a:rPr>
              <a:t>▸  </a:t>
            </a:r>
            <a:r>
              <a:rPr sz="1450" b="1">
                <a:solidFill>
                  <a:srgbClr val="1C222E"/>
                </a:solidFill>
                <a:latin typeface="Segoe UI"/>
              </a:rPr>
              <a:t>Why it needs care.  </a:t>
            </a:r>
            <a:r>
              <a:rPr sz="1450">
                <a:solidFill>
                  <a:srgbClr val="1C222E"/>
                </a:solidFill>
                <a:latin typeface="Segoe UI"/>
              </a:rPr>
              <a:t>A search can be run again. A booking cannot be undone. It holds a table and commits people to a time, so the agent should not make that call alone.</a:t>
            </a:r>
          </a:p>
          <a:p>
            <a:pPr>
              <a:lnSpc>
                <a:spcPct val="116000"/>
              </a:lnSpc>
              <a:spcAft>
                <a:spcPts val="1600"/>
              </a:spcAft>
            </a:pPr>
            <a:r>
              <a:rPr sz="1450">
                <a:solidFill>
                  <a:srgbClr val="C41230"/>
                </a:solidFill>
                <a:latin typeface="Segoe UI"/>
              </a:rPr>
              <a:t>▸  </a:t>
            </a:r>
            <a:r>
              <a:rPr sz="1450" b="1">
                <a:solidFill>
                  <a:srgbClr val="1C222E"/>
                </a:solidFill>
                <a:latin typeface="Segoe UI"/>
              </a:rPr>
              <a:t>What going wrong looks like.  </a:t>
            </a:r>
            <a:r>
              <a:rPr sz="1450">
                <a:solidFill>
                  <a:srgbClr val="1C222E"/>
                </a:solidFill>
                <a:latin typeface="Segoe UI"/>
              </a:rPr>
              <a:t>The guest turns up and the restaurant has no record of them, because the agent made up a time or a booking number that was never real.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3. SYSTEM GOAL AND SCOPE</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What it does, and where it stops</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4</a:t>
            </a:r>
          </a:p>
        </p:txBody>
      </p:sp>
      <p:sp>
        <p:nvSpPr>
          <p:cNvPr id="7" name="TextBox 6"/>
          <p:cNvSpPr txBox="1"/>
          <p:nvPr/>
        </p:nvSpPr>
        <p:spPr>
          <a:xfrm>
            <a:off x="777240" y="1737360"/>
            <a:ext cx="10637215" cy="457200"/>
          </a:xfrm>
          <a:prstGeom prst="rect">
            <a:avLst/>
          </a:prstGeom>
          <a:noFill/>
        </p:spPr>
        <p:txBody>
          <a:bodyPr wrap="square" lIns="0" rIns="0" tIns="0" bIns="0" anchor="t">
            <a:spAutoFit/>
          </a:bodyPr>
          <a:lstStyle/>
          <a:p>
            <a:pPr algn="l">
              <a:lnSpc>
                <a:spcPct val="100000"/>
              </a:lnSpc>
            </a:pPr>
            <a:r>
              <a:rPr sz="1500" b="1">
                <a:solidFill>
                  <a:srgbClr val="C41230"/>
                </a:solidFill>
                <a:latin typeface="Georgia"/>
              </a:rPr>
              <a:t>“Somewhere Italian for four on Friday”  →  a booked table, with the reasons shown and a person's approval on record.</a:t>
            </a:r>
          </a:p>
        </p:txBody>
      </p:sp>
      <p:graphicFrame>
        <p:nvGraphicFramePr>
          <p:cNvPr id="8" name="Table 7"/>
          <p:cNvGraphicFramePr>
            <a:graphicFrameLocks noGrp="1"/>
          </p:cNvGraphicFramePr>
          <p:nvPr/>
        </p:nvGraphicFramePr>
        <p:xfrm>
          <a:off x="777240" y="2331720"/>
          <a:ext cx="10634472" cy="3401568"/>
        </p:xfrm>
        <a:graphic>
          <a:graphicData uri="http://schemas.openxmlformats.org/drawingml/2006/table">
            <a:tbl>
              <a:tblPr firstRow="1">
                <a:tableStyleId>{5C22544A-7EE6-4342-B048-85BDC9FD1C3A}</a:tableStyleId>
              </a:tblPr>
              <a:tblGrid>
                <a:gridCol w="5074920"/>
                <a:gridCol w="5559552"/>
              </a:tblGrid>
              <a:tr h="566928">
                <a:tc>
                  <a:txBody>
                    <a:bodyPr wrap="square"/>
                    <a:lstStyle/>
                    <a:p>
                      <a:pPr>
                        <a:lnSpc>
                          <a:spcPct val="110000"/>
                        </a:lnSpc>
                      </a:pPr>
                      <a:r>
                        <a:rPr sz="1150" b="1">
                          <a:solidFill>
                            <a:srgbClr val="FFFFFF"/>
                          </a:solidFill>
                          <a:latin typeface="Segoe UI"/>
                        </a:rPr>
                        <a:t>What working well looks like</a:t>
                      </a:r>
                    </a:p>
                  </a:txBody>
                  <a:tcPr marL="100584" marR="100584" marT="45720" marB="45720" anchor="ctr">
                    <a:solidFill>
                      <a:srgbClr val="C41230"/>
                    </a:solidFill>
                  </a:tcPr>
                </a:tc>
                <a:tc>
                  <a:txBody>
                    <a:bodyPr wrap="square"/>
                    <a:lstStyle/>
                    <a:p>
                      <a:pPr>
                        <a:lnSpc>
                          <a:spcPct val="110000"/>
                        </a:lnSpc>
                      </a:pPr>
                      <a:r>
                        <a:rPr sz="1150" b="1">
                          <a:solidFill>
                            <a:srgbClr val="FFFFFF"/>
                          </a:solidFill>
                          <a:latin typeface="Segoe UI"/>
                        </a:rPr>
                        <a:t>What it does not do</a:t>
                      </a:r>
                    </a:p>
                  </a:txBody>
                  <a:tcPr marL="100584" marR="100584" marT="45720" marB="45720" anchor="ctr">
                    <a:solidFill>
                      <a:srgbClr val="C41230"/>
                    </a:solidFill>
                  </a:tcPr>
                </a:tc>
              </a:tr>
              <a:tr h="566928">
                <a:tc>
                  <a:txBody>
                    <a:bodyPr wrap="square"/>
                    <a:lstStyle/>
                    <a:p>
                      <a:pPr>
                        <a:lnSpc>
                          <a:spcPct val="110000"/>
                        </a:lnSpc>
                      </a:pPr>
                      <a:r>
                        <a:rPr sz="1150" b="0">
                          <a:solidFill>
                            <a:srgbClr val="1C222E"/>
                          </a:solidFill>
                          <a:latin typeface="Segoe UI"/>
                        </a:rPr>
                        <a:t>The right restaurant near the top of the shortlist, with the reason it fits</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Anything outside dining. It declines and steers back to the table</a:t>
                      </a:r>
                    </a:p>
                  </a:txBody>
                  <a:tcPr marL="100584" marR="100584" marT="45720" marB="45720" anchor="ctr">
                    <a:solidFill>
                      <a:srgbClr val="FFFFFF"/>
                    </a:solidFill>
                  </a:tcPr>
                </a:tc>
              </a:tr>
              <a:tr h="566928">
                <a:tc>
                  <a:txBody>
                    <a:bodyPr wrap="square"/>
                    <a:lstStyle/>
                    <a:p>
                      <a:pPr>
                        <a:lnSpc>
                          <a:spcPct val="110000"/>
                        </a:lnSpc>
                      </a:pPr>
                      <a:r>
                        <a:rPr sz="1150" b="0">
                          <a:solidFill>
                            <a:srgbClr val="1C222E"/>
                          </a:solidFill>
                          <a:latin typeface="Segoe UI"/>
                        </a:rPr>
                        <a:t>Nothing in a reply that a tool did not return</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Book against a real reservation system. Those are partner gated, so bookings go to a mock service I built</a:t>
                      </a:r>
                    </a:p>
                  </a:txBody>
                  <a:tcPr marL="100584" marR="100584" marT="45720" marB="45720" anchor="ctr">
                    <a:solidFill>
                      <a:srgbClr val="F3F4F6"/>
                    </a:solidFill>
                  </a:tcPr>
                </a:tc>
              </a:tr>
              <a:tr h="566928">
                <a:tc>
                  <a:txBody>
                    <a:bodyPr wrap="square"/>
                    <a:lstStyle/>
                    <a:p>
                      <a:pPr>
                        <a:lnSpc>
                          <a:spcPct val="110000"/>
                        </a:lnSpc>
                      </a:pPr>
                      <a:r>
                        <a:rPr sz="1150" b="0">
                          <a:solidFill>
                            <a:srgbClr val="1C222E"/>
                          </a:solidFill>
                          <a:latin typeface="Segoe UI"/>
                        </a:rPr>
                        <a:t>No booking until a person approves it</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Use real offers. The perks are synthetic data, labelled as such</a:t>
                      </a:r>
                    </a:p>
                  </a:txBody>
                  <a:tcPr marL="100584" marR="100584" marT="45720" marB="45720" anchor="ctr">
                    <a:solidFill>
                      <a:srgbClr val="FFFFFF"/>
                    </a:solidFill>
                  </a:tcPr>
                </a:tc>
              </a:tr>
              <a:tr h="566928">
                <a:tc>
                  <a:txBody>
                    <a:bodyPr wrap="square"/>
                    <a:lstStyle/>
                    <a:p>
                      <a:pPr>
                        <a:lnSpc>
                          <a:spcPct val="110000"/>
                        </a:lnSpc>
                      </a:pPr>
                      <a:r>
                        <a:rPr sz="1150" b="0">
                          <a:solidFill>
                            <a:srgbClr val="1C222E"/>
                          </a:solidFill>
                          <a:latin typeface="Segoe UI"/>
                        </a:rPr>
                        <a:t>A record of who did what, and what the person approved</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Payments, logins, or a production interface</a:t>
                      </a:r>
                    </a:p>
                  </a:txBody>
                  <a:tcPr marL="100584" marR="100584" marT="45720" marB="45720" anchor="ctr">
                    <a:solidFill>
                      <a:srgbClr val="F3F4F6"/>
                    </a:solidFill>
                  </a:tcPr>
                </a:tc>
              </a:tr>
              <a:tr h="566928">
                <a:tc>
                  <a:txBody>
                    <a:bodyPr wrap="square"/>
                    <a:lstStyle/>
                    <a:p>
                      <a:pPr>
                        <a:lnSpc>
                          <a:spcPct val="110000"/>
                        </a:lnSpc>
                      </a:pPr>
                      <a:r>
                        <a:rPr sz="1150" b="0">
                          <a:solidFill>
                            <a:srgbClr val="1C222E"/>
                          </a:solidFill>
                          <a:latin typeface="Segoe UI"/>
                        </a:rPr>
                        <a:t>Everything still runs with no API key and no network</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Handle real traffic. It is built for one guest at a time</a:t>
                      </a:r>
                    </a:p>
                  </a:txBody>
                  <a:tcPr marL="100584" marR="100584" marT="45720" marB="45720"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4. FINAL SYSTEM ARCHITECTURE</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How the system fits together</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5</a:t>
            </a:r>
          </a:p>
        </p:txBody>
      </p:sp>
      <p:sp>
        <p:nvSpPr>
          <p:cNvPr id="7" name="TextBox 6"/>
          <p:cNvSpPr txBox="1"/>
          <p:nvPr/>
        </p:nvSpPr>
        <p:spPr>
          <a:xfrm>
            <a:off x="777240" y="1481328"/>
            <a:ext cx="10637215" cy="274320"/>
          </a:xfrm>
          <a:prstGeom prst="rect">
            <a:avLst/>
          </a:prstGeom>
          <a:noFill/>
        </p:spPr>
        <p:txBody>
          <a:bodyPr wrap="square" lIns="0" rIns="0" tIns="0" bIns="0" anchor="t">
            <a:spAutoFit/>
          </a:bodyPr>
          <a:lstStyle/>
          <a:p>
            <a:pPr algn="l">
              <a:lnSpc>
                <a:spcPct val="100000"/>
              </a:lnSpc>
            </a:pPr>
            <a:r>
              <a:rPr sz="1100" b="0">
                <a:solidFill>
                  <a:srgbClr val="535C6B"/>
                </a:solidFill>
                <a:latin typeface="Segoe UI"/>
              </a:rPr>
              <a:t>Each capability is its own Model Context Protocol (MCP) server with its own data. Every unit below the broker can only use the tools its file allows.</a:t>
            </a:r>
          </a:p>
        </p:txBody>
      </p:sp>
      <p:sp>
        <p:nvSpPr>
          <p:cNvPr id="8" name="TextBox 7"/>
          <p:cNvSpPr txBox="1"/>
          <p:nvPr/>
        </p:nvSpPr>
        <p:spPr>
          <a:xfrm>
            <a:off x="777240" y="2057399"/>
            <a:ext cx="1188720" cy="365760"/>
          </a:xfrm>
          <a:prstGeom prst="rect">
            <a:avLst/>
          </a:prstGeom>
          <a:noFill/>
        </p:spPr>
        <p:txBody>
          <a:bodyPr wrap="square" lIns="0" rIns="0" tIns="0" bIns="0" anchor="t">
            <a:spAutoFit/>
          </a:bodyPr>
          <a:lstStyle/>
          <a:p>
            <a:pPr algn="l">
              <a:lnSpc>
                <a:spcPct val="100000"/>
              </a:lnSpc>
            </a:pPr>
            <a:r>
              <a:rPr sz="850" b="1">
                <a:solidFill>
                  <a:srgbClr val="C41230"/>
                </a:solidFill>
                <a:latin typeface="Segoe UI"/>
              </a:rPr>
              <a:t>SURFACES</a:t>
            </a:r>
          </a:p>
        </p:txBody>
      </p:sp>
      <p:sp>
        <p:nvSpPr>
          <p:cNvPr id="9" name="Rectangle 8"/>
          <p:cNvSpPr/>
          <p:nvPr/>
        </p:nvSpPr>
        <p:spPr>
          <a:xfrm>
            <a:off x="2057400" y="1874519"/>
            <a:ext cx="2313432"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0552" y="1956815"/>
            <a:ext cx="2167128"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chat_app.py</a:t>
            </a:r>
          </a:p>
          <a:p>
            <a:pPr algn="ctr"/>
            <a:r>
              <a:rPr sz="720" b="0">
                <a:solidFill>
                  <a:srgbClr val="535C6B"/>
                </a:solidFill>
                <a:latin typeface="Segoe UI"/>
              </a:rPr>
              <a:t>Streamlit: the Reserve card
and the live audit sidebar</a:t>
            </a:r>
          </a:p>
        </p:txBody>
      </p:sp>
      <p:sp>
        <p:nvSpPr>
          <p:cNvPr id="11" name="Rectangle 10"/>
          <p:cNvSpPr/>
          <p:nvPr/>
        </p:nvSpPr>
        <p:spPr>
          <a:xfrm>
            <a:off x="4489704" y="1874519"/>
            <a:ext cx="2313432"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2856" y="1956815"/>
            <a:ext cx="2167128"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__main__.py chat</a:t>
            </a:r>
          </a:p>
          <a:p>
            <a:pPr algn="ctr"/>
            <a:r>
              <a:rPr sz="720" b="0">
                <a:solidFill>
                  <a:srgbClr val="535C6B"/>
                </a:solidFill>
                <a:latin typeface="Segoe UI"/>
              </a:rPr>
              <a:t>terminal chat, and the
approval prompt</a:t>
            </a:r>
          </a:p>
        </p:txBody>
      </p:sp>
      <p:sp>
        <p:nvSpPr>
          <p:cNvPr id="13" name="Rectangle 12"/>
          <p:cNvSpPr/>
          <p:nvPr/>
        </p:nvSpPr>
        <p:spPr>
          <a:xfrm>
            <a:off x="6922008" y="1874519"/>
            <a:ext cx="2313432"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956815"/>
            <a:ext cx="2167128"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langgraph dev</a:t>
            </a:r>
          </a:p>
          <a:p>
            <a:pPr algn="ctr"/>
            <a:r>
              <a:rPr sz="720" b="0">
                <a:solidFill>
                  <a:srgbClr val="535C6B"/>
                </a:solidFill>
                <a:latin typeface="Segoe UI"/>
              </a:rPr>
              <a:t>LangGraph Studio,
graph name: concierge</a:t>
            </a:r>
          </a:p>
        </p:txBody>
      </p:sp>
      <p:sp>
        <p:nvSpPr>
          <p:cNvPr id="15" name="Down Arrow 14"/>
          <p:cNvSpPr/>
          <p:nvPr/>
        </p:nvSpPr>
        <p:spPr>
          <a:xfrm>
            <a:off x="5545836" y="2532887"/>
            <a:ext cx="201168" cy="173736"/>
          </a:xfrm>
          <a:prstGeom prst="down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907792"/>
            <a:ext cx="1188720" cy="365760"/>
          </a:xfrm>
          <a:prstGeom prst="rect">
            <a:avLst/>
          </a:prstGeom>
          <a:noFill/>
        </p:spPr>
        <p:txBody>
          <a:bodyPr wrap="square" lIns="0" rIns="0" tIns="0" bIns="0" anchor="t">
            <a:spAutoFit/>
          </a:bodyPr>
          <a:lstStyle/>
          <a:p>
            <a:pPr algn="l">
              <a:lnSpc>
                <a:spcPct val="100000"/>
              </a:lnSpc>
            </a:pPr>
            <a:r>
              <a:rPr sz="850" b="1">
                <a:solidFill>
                  <a:srgbClr val="C41230"/>
                </a:solidFill>
                <a:latin typeface="Segoe UI"/>
              </a:rPr>
              <a:t>ORCHESTRATION</a:t>
            </a:r>
          </a:p>
        </p:txBody>
      </p:sp>
      <p:sp>
        <p:nvSpPr>
          <p:cNvPr id="17" name="Rectangle 16"/>
          <p:cNvSpPr/>
          <p:nvPr/>
        </p:nvSpPr>
        <p:spPr>
          <a:xfrm>
            <a:off x="2057400" y="2724912"/>
            <a:ext cx="3529584"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30552" y="2807208"/>
            <a:ext cx="3383280"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concierge_chat._run_turn</a:t>
            </a:r>
          </a:p>
          <a:p>
            <a:pPr algn="ctr"/>
            <a:r>
              <a:rPr sz="720" b="0">
                <a:solidFill>
                  <a:srgbClr val="535C6B"/>
                </a:solidFill>
                <a:latin typeface="Segoe UI"/>
              </a:rPr>
              <a:t>the chat path  ·  tool calling loop  ·  two model calls per turn  ·  MAX_TOOL_HOPS = 6  ·  ConciergeSession holds the working state</a:t>
            </a:r>
          </a:p>
        </p:txBody>
      </p:sp>
      <p:sp>
        <p:nvSpPr>
          <p:cNvPr id="19" name="Rectangle 18"/>
          <p:cNvSpPr/>
          <p:nvPr/>
        </p:nvSpPr>
        <p:spPr>
          <a:xfrm>
            <a:off x="5705856" y="2724912"/>
            <a:ext cx="3529584"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79008" y="2807208"/>
            <a:ext cx="3383280"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graph.build_state_graph</a:t>
            </a:r>
          </a:p>
          <a:p>
            <a:pPr algn="ctr"/>
            <a:r>
              <a:rPr sz="720" b="0">
                <a:solidFill>
                  <a:srgbClr val="535C6B"/>
                </a:solidFill>
                <a:latin typeface="Segoe UI"/>
              </a:rPr>
              <a:t>the scripted path  ·  StateGraph(ConciergeState)  ·  9 nodes, 2 conditional edges  ·  MemorySaver lets the run pause and resume</a:t>
            </a:r>
          </a:p>
        </p:txBody>
      </p:sp>
      <p:sp>
        <p:nvSpPr>
          <p:cNvPr id="21" name="Down Arrow 20"/>
          <p:cNvSpPr/>
          <p:nvPr/>
        </p:nvSpPr>
        <p:spPr>
          <a:xfrm>
            <a:off x="5545836" y="3383280"/>
            <a:ext cx="201168" cy="173736"/>
          </a:xfrm>
          <a:prstGeom prst="down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758184"/>
            <a:ext cx="1188720" cy="365760"/>
          </a:xfrm>
          <a:prstGeom prst="rect">
            <a:avLst/>
          </a:prstGeom>
          <a:noFill/>
        </p:spPr>
        <p:txBody>
          <a:bodyPr wrap="square" lIns="0" rIns="0" tIns="0" bIns="0" anchor="t">
            <a:spAutoFit/>
          </a:bodyPr>
          <a:lstStyle/>
          <a:p>
            <a:pPr algn="l">
              <a:lnSpc>
                <a:spcPct val="100000"/>
              </a:lnSpc>
            </a:pPr>
            <a:r>
              <a:rPr sz="850" b="1">
                <a:solidFill>
                  <a:srgbClr val="C41230"/>
                </a:solidFill>
                <a:latin typeface="Segoe UI"/>
              </a:rPr>
              <a:t>PERMISSION BROKER</a:t>
            </a:r>
          </a:p>
        </p:txBody>
      </p:sp>
      <p:sp>
        <p:nvSpPr>
          <p:cNvPr id="23" name="Rectangle 22"/>
          <p:cNvSpPr/>
          <p:nvPr/>
        </p:nvSpPr>
        <p:spPr>
          <a:xfrm>
            <a:off x="2057400" y="3575304"/>
            <a:ext cx="7178040"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30552" y="3657600"/>
            <a:ext cx="7031736"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_dispatch  →  roster.acting_as(unit)  →  roster.require(tool)</a:t>
            </a:r>
          </a:p>
          <a:p>
            <a:pPr algn="ctr"/>
            <a:r>
              <a:rPr sz="720" b="0">
                <a:solidFill>
                  <a:srgbClr val="535C6B"/>
                </a:solidFill>
                <a:latin typeface="Segoe UI"/>
              </a:rPr>
              <a:t>every tool call goes through here  ·  a ContextVar records which unit is acting, and the registry refuses anything that unit was not given  ·  it raises NotGranted</a:t>
            </a:r>
          </a:p>
        </p:txBody>
      </p:sp>
      <p:sp>
        <p:nvSpPr>
          <p:cNvPr id="25" name="Down Arrow 24"/>
          <p:cNvSpPr/>
          <p:nvPr/>
        </p:nvSpPr>
        <p:spPr>
          <a:xfrm>
            <a:off x="5545836" y="4233672"/>
            <a:ext cx="201168" cy="173736"/>
          </a:xfrm>
          <a:prstGeom prst="down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608576"/>
            <a:ext cx="1188720" cy="365760"/>
          </a:xfrm>
          <a:prstGeom prst="rect">
            <a:avLst/>
          </a:prstGeom>
          <a:noFill/>
        </p:spPr>
        <p:txBody>
          <a:bodyPr wrap="square" lIns="0" rIns="0" tIns="0" bIns="0" anchor="t">
            <a:spAutoFit/>
          </a:bodyPr>
          <a:lstStyle/>
          <a:p>
            <a:pPr algn="l">
              <a:lnSpc>
                <a:spcPct val="100000"/>
              </a:lnSpc>
            </a:pPr>
            <a:r>
              <a:rPr sz="850" b="1">
                <a:solidFill>
                  <a:srgbClr val="C41230"/>
                </a:solidFill>
                <a:latin typeface="Segoe UI"/>
              </a:rPr>
              <a:t>UNITS</a:t>
            </a:r>
          </a:p>
        </p:txBody>
      </p:sp>
      <p:sp>
        <p:nvSpPr>
          <p:cNvPr id="27" name="Rectangle 26"/>
          <p:cNvSpPr/>
          <p:nvPr/>
        </p:nvSpPr>
        <p:spPr>
          <a:xfrm>
            <a:off x="2057400" y="4425696"/>
            <a:ext cx="1362456"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30552" y="4507992"/>
            <a:ext cx="1216152"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Dino</a:t>
            </a:r>
          </a:p>
          <a:p>
            <a:pPr algn="ctr"/>
            <a:r>
              <a:rPr sz="720" b="0">
                <a:solidFill>
                  <a:srgbClr val="535C6B"/>
                </a:solidFill>
                <a:latin typeface="Segoe UI"/>
              </a:rPr>
              <a:t>runs the model,
holds no tools</a:t>
            </a:r>
          </a:p>
        </p:txBody>
      </p:sp>
      <p:sp>
        <p:nvSpPr>
          <p:cNvPr id="29" name="Rectangle 28"/>
          <p:cNvSpPr/>
          <p:nvPr/>
        </p:nvSpPr>
        <p:spPr>
          <a:xfrm>
            <a:off x="3511296" y="4425696"/>
            <a:ext cx="1362456"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84448" y="4507992"/>
            <a:ext cx="1216152"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Scout</a:t>
            </a:r>
          </a:p>
          <a:p>
            <a:pPr algn="ctr"/>
            <a:r>
              <a:rPr sz="720" b="0">
                <a:solidFill>
                  <a:srgbClr val="535C6B"/>
                </a:solidFill>
                <a:latin typeface="Segoe UI"/>
              </a:rPr>
              <a:t>search, perks,
availability</a:t>
            </a:r>
          </a:p>
        </p:txBody>
      </p:sp>
      <p:sp>
        <p:nvSpPr>
          <p:cNvPr id="31" name="Rectangle 30"/>
          <p:cNvSpPr/>
          <p:nvPr/>
        </p:nvSpPr>
        <p:spPr>
          <a:xfrm>
            <a:off x="4965192" y="4425696"/>
            <a:ext cx="1362456"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8344" y="4507992"/>
            <a:ext cx="1216152"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Curator</a:t>
            </a:r>
          </a:p>
          <a:p>
            <a:pPr algn="ctr"/>
            <a:r>
              <a:rPr sz="720" b="0">
                <a:solidFill>
                  <a:srgbClr val="535C6B"/>
                </a:solidFill>
                <a:latin typeface="Segoe UI"/>
              </a:rPr>
              <a:t>menu highlights,
photos</a:t>
            </a:r>
          </a:p>
        </p:txBody>
      </p:sp>
      <p:sp>
        <p:nvSpPr>
          <p:cNvPr id="33" name="Rectangle 32"/>
          <p:cNvSpPr/>
          <p:nvPr/>
        </p:nvSpPr>
        <p:spPr>
          <a:xfrm>
            <a:off x="6419088" y="4425696"/>
            <a:ext cx="1362456"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4507992"/>
            <a:ext cx="1216152"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Steward</a:t>
            </a:r>
          </a:p>
          <a:p>
            <a:pPr algn="ctr"/>
            <a:r>
              <a:rPr sz="720" b="0">
                <a:solidFill>
                  <a:srgbClr val="535C6B"/>
                </a:solidFill>
                <a:latin typeface="Segoe UI"/>
              </a:rPr>
              <a:t>the guest's
saved profile</a:t>
            </a:r>
          </a:p>
        </p:txBody>
      </p:sp>
      <p:sp>
        <p:nvSpPr>
          <p:cNvPr id="35" name="Rectangle 34"/>
          <p:cNvSpPr/>
          <p:nvPr/>
        </p:nvSpPr>
        <p:spPr>
          <a:xfrm>
            <a:off x="7872984" y="4425696"/>
            <a:ext cx="1362456"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46136" y="4507992"/>
            <a:ext cx="1216152"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Booker</a:t>
            </a:r>
          </a:p>
          <a:p>
            <a:pPr algn="ctr"/>
            <a:r>
              <a:rPr sz="720" b="0">
                <a:solidFill>
                  <a:srgbClr val="535C6B"/>
                </a:solidFill>
                <a:latin typeface="Segoe UI"/>
              </a:rPr>
              <a:t>book and
cancel</a:t>
            </a:r>
          </a:p>
        </p:txBody>
      </p:sp>
      <p:sp>
        <p:nvSpPr>
          <p:cNvPr id="37" name="Down Arrow 36"/>
          <p:cNvSpPr/>
          <p:nvPr/>
        </p:nvSpPr>
        <p:spPr>
          <a:xfrm>
            <a:off x="5545836" y="5084064"/>
            <a:ext cx="201168" cy="173736"/>
          </a:xfrm>
          <a:prstGeom prst="down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458968"/>
            <a:ext cx="1188720" cy="365760"/>
          </a:xfrm>
          <a:prstGeom prst="rect">
            <a:avLst/>
          </a:prstGeom>
          <a:noFill/>
        </p:spPr>
        <p:txBody>
          <a:bodyPr wrap="square" lIns="0" rIns="0" tIns="0" bIns="0" anchor="t">
            <a:spAutoFit/>
          </a:bodyPr>
          <a:lstStyle/>
          <a:p>
            <a:pPr algn="l">
              <a:lnSpc>
                <a:spcPct val="100000"/>
              </a:lnSpc>
            </a:pPr>
            <a:r>
              <a:rPr sz="850" b="1">
                <a:solidFill>
                  <a:srgbClr val="C41230"/>
                </a:solidFill>
                <a:latin typeface="Segoe UI"/>
              </a:rPr>
              <a:t>SERVERS
AND DATA</a:t>
            </a:r>
          </a:p>
        </p:txBody>
      </p:sp>
      <p:sp>
        <p:nvSpPr>
          <p:cNvPr id="39" name="Rectangle 38"/>
          <p:cNvSpPr/>
          <p:nvPr/>
        </p:nvSpPr>
        <p:spPr>
          <a:xfrm>
            <a:off x="2057400" y="5276088"/>
            <a:ext cx="1705356"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30552" y="5358384"/>
            <a:ext cx="1559052"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search/server.py</a:t>
            </a:r>
          </a:p>
          <a:p>
            <a:pPr algn="ctr"/>
            <a:r>
              <a:rPr sz="720" b="0">
                <a:solidFill>
                  <a:srgbClr val="535C6B"/>
                </a:solidFill>
                <a:latin typeface="Segoe UI"/>
              </a:rPr>
              <a:t>Places API v1 searchText,
field masked  ·  falls back to
places_sample.json</a:t>
            </a:r>
          </a:p>
        </p:txBody>
      </p:sp>
      <p:sp>
        <p:nvSpPr>
          <p:cNvPr id="41" name="Rectangle 40"/>
          <p:cNvSpPr/>
          <p:nvPr/>
        </p:nvSpPr>
        <p:spPr>
          <a:xfrm>
            <a:off x="3881628" y="5276088"/>
            <a:ext cx="1705356"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954780" y="5358384"/>
            <a:ext cx="1559052"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perks/server.py</a:t>
            </a:r>
          </a:p>
          <a:p>
            <a:pPr algn="ctr"/>
            <a:r>
              <a:rPr sz="720" b="0">
                <a:solidFill>
                  <a:srgbClr val="535C6B"/>
                </a:solidFill>
                <a:latin typeface="Segoe UI"/>
              </a:rPr>
              <a:t>Chroma  ·  all-MiniLM-L6-v2
embeddings, run locally  ·
scored and filtered</a:t>
            </a:r>
          </a:p>
        </p:txBody>
      </p:sp>
      <p:sp>
        <p:nvSpPr>
          <p:cNvPr id="43" name="Rectangle 42"/>
          <p:cNvSpPr/>
          <p:nvPr/>
        </p:nvSpPr>
        <p:spPr>
          <a:xfrm>
            <a:off x="5705856" y="5276088"/>
            <a:ext cx="1705356"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79008" y="5358384"/>
            <a:ext cx="1559052"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web/server.py</a:t>
            </a:r>
          </a:p>
          <a:p>
            <a:pPr algn="ctr"/>
            <a:r>
              <a:rPr sz="720" b="0">
                <a:solidFill>
                  <a:srgbClr val="535C6B"/>
                </a:solidFill>
                <a:latin typeface="Segoe UI"/>
              </a:rPr>
              <a:t>Tavily search  ·  falls back to
web_highlights_sample.json</a:t>
            </a:r>
          </a:p>
        </p:txBody>
      </p:sp>
      <p:sp>
        <p:nvSpPr>
          <p:cNvPr id="45" name="Rectangle 44"/>
          <p:cNvSpPr/>
          <p:nvPr/>
        </p:nvSpPr>
        <p:spPr>
          <a:xfrm>
            <a:off x="7530084" y="5276088"/>
            <a:ext cx="1705356" cy="64008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03236" y="5358384"/>
            <a:ext cx="1559052" cy="475488"/>
          </a:xfrm>
          <a:prstGeom prst="rect">
            <a:avLst/>
          </a:prstGeom>
          <a:noFill/>
        </p:spPr>
        <p:txBody>
          <a:bodyPr wrap="square" lIns="0" rIns="0" tIns="0" bIns="0" anchor="ctr">
            <a:spAutoFit/>
          </a:bodyPr>
          <a:lstStyle/>
          <a:p>
            <a:pPr algn="ctr">
              <a:lnSpc>
                <a:spcPct val="100000"/>
              </a:lnSpc>
            </a:pPr>
            <a:r>
              <a:rPr sz="1000" b="1">
                <a:solidFill>
                  <a:srgbClr val="1C222E"/>
                </a:solidFill>
                <a:latin typeface="Segoe UI"/>
              </a:rPr>
              <a:t>booking/server.py</a:t>
            </a:r>
          </a:p>
          <a:p>
            <a:pPr algn="ctr"/>
            <a:r>
              <a:rPr sz="720" b="0">
                <a:solidFill>
                  <a:srgbClr val="535C6B"/>
                </a:solidFill>
                <a:latin typeface="Segoe UI"/>
              </a:rPr>
              <a:t>FastAPI service  ·  SQLite
database  ·  owns the 24 hour
cancellation rule</a:t>
            </a:r>
          </a:p>
        </p:txBody>
      </p:sp>
      <p:sp>
        <p:nvSpPr>
          <p:cNvPr id="47" name="Rectangle 46"/>
          <p:cNvSpPr/>
          <p:nvPr/>
        </p:nvSpPr>
        <p:spPr>
          <a:xfrm>
            <a:off x="9491472" y="1874519"/>
            <a:ext cx="1920240" cy="4041648"/>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19488" y="2011680"/>
            <a:ext cx="1664208" cy="274320"/>
          </a:xfrm>
          <a:prstGeom prst="rect">
            <a:avLst/>
          </a:prstGeom>
          <a:noFill/>
        </p:spPr>
        <p:txBody>
          <a:bodyPr wrap="square" lIns="0" rIns="0" tIns="0" bIns="0" anchor="t">
            <a:spAutoFit/>
          </a:bodyPr>
          <a:lstStyle/>
          <a:p>
            <a:pPr algn="l">
              <a:lnSpc>
                <a:spcPct val="100000"/>
              </a:lnSpc>
            </a:pPr>
            <a:r>
              <a:rPr sz="850" b="1">
                <a:solidFill>
                  <a:srgbClr val="C41230"/>
                </a:solidFill>
                <a:latin typeface="Segoe UI"/>
              </a:rPr>
              <a:t>GOVERNANCE</a:t>
            </a:r>
          </a:p>
        </p:txBody>
      </p:sp>
      <p:sp>
        <p:nvSpPr>
          <p:cNvPr id="49" name="TextBox 48"/>
          <p:cNvSpPr txBox="1"/>
          <p:nvPr/>
        </p:nvSpPr>
        <p:spPr>
          <a:xfrm>
            <a:off x="9619488" y="2249424"/>
            <a:ext cx="1664208" cy="274320"/>
          </a:xfrm>
          <a:prstGeom prst="rect">
            <a:avLst/>
          </a:prstGeom>
          <a:noFill/>
        </p:spPr>
        <p:txBody>
          <a:bodyPr wrap="square" lIns="0" rIns="0" tIns="0" bIns="0" anchor="t">
            <a:spAutoFit/>
          </a:bodyPr>
          <a:lstStyle/>
          <a:p>
            <a:pPr algn="l">
              <a:lnSpc>
                <a:spcPct val="100000"/>
              </a:lnSpc>
            </a:pPr>
            <a:r>
              <a:rPr sz="750" b="0">
                <a:solidFill>
                  <a:srgbClr val="8A929E"/>
                </a:solidFill>
                <a:latin typeface="Segoe UI"/>
              </a:rPr>
              <a:t>applies to every layer</a:t>
            </a:r>
          </a:p>
        </p:txBody>
      </p:sp>
      <p:sp>
        <p:nvSpPr>
          <p:cNvPr id="50" name="Rectangle 49"/>
          <p:cNvSpPr/>
          <p:nvPr/>
        </p:nvSpPr>
        <p:spPr>
          <a:xfrm>
            <a:off x="9619488" y="2578608"/>
            <a:ext cx="1664208" cy="969264"/>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92640" y="2660904"/>
            <a:ext cx="1517904" cy="804672"/>
          </a:xfrm>
          <a:prstGeom prst="rect">
            <a:avLst/>
          </a:prstGeom>
          <a:noFill/>
        </p:spPr>
        <p:txBody>
          <a:bodyPr wrap="square" lIns="0" rIns="0" tIns="0" bIns="0" anchor="ctr">
            <a:spAutoFit/>
          </a:bodyPr>
          <a:lstStyle/>
          <a:p>
            <a:pPr algn="ctr">
              <a:lnSpc>
                <a:spcPct val="100000"/>
              </a:lnSpc>
            </a:pPr>
            <a:r>
              <a:rPr sz="900" b="1">
                <a:solidFill>
                  <a:srgbClr val="1C222E"/>
                </a:solidFill>
                <a:latin typeface="Segoe UI"/>
              </a:rPr>
              <a:t>graph.gate_node</a:t>
            </a:r>
          </a:p>
          <a:p>
            <a:pPr algn="ctr"/>
            <a:r>
              <a:rPr sz="720" b="0">
                <a:solidFill>
                  <a:srgbClr val="535C6B"/>
                </a:solidFill>
                <a:latin typeface="Segoe UI"/>
              </a:rPr>
              <a:t>the run stops here
and waits for a
person to approve</a:t>
            </a:r>
          </a:p>
        </p:txBody>
      </p:sp>
      <p:sp>
        <p:nvSpPr>
          <p:cNvPr id="52" name="Rectangle 51"/>
          <p:cNvSpPr/>
          <p:nvPr/>
        </p:nvSpPr>
        <p:spPr>
          <a:xfrm>
            <a:off x="9619488" y="3675887"/>
            <a:ext cx="1664208" cy="969264"/>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92640" y="3758183"/>
            <a:ext cx="1517904" cy="804672"/>
          </a:xfrm>
          <a:prstGeom prst="rect">
            <a:avLst/>
          </a:prstGeom>
          <a:noFill/>
        </p:spPr>
        <p:txBody>
          <a:bodyPr wrap="square" lIns="0" rIns="0" tIns="0" bIns="0" anchor="ctr">
            <a:spAutoFit/>
          </a:bodyPr>
          <a:lstStyle/>
          <a:p>
            <a:pPr algn="ctr">
              <a:lnSpc>
                <a:spcPct val="100000"/>
              </a:lnSpc>
            </a:pPr>
            <a:r>
              <a:rPr sz="900" b="1">
                <a:solidFill>
                  <a:srgbClr val="1C222E"/>
                </a:solidFill>
                <a:latin typeface="Segoe UI"/>
              </a:rPr>
              <a:t>governance/grounding.py</a:t>
            </a:r>
          </a:p>
          <a:p>
            <a:pPr algn="ctr"/>
            <a:r>
              <a:rPr sz="720" b="0">
                <a:solidFill>
                  <a:srgbClr val="535C6B"/>
                </a:solidFill>
                <a:latin typeface="Segoe UI"/>
              </a:rPr>
              <a:t>checks every reply
against what the
tools returned</a:t>
            </a:r>
          </a:p>
        </p:txBody>
      </p:sp>
      <p:sp>
        <p:nvSpPr>
          <p:cNvPr id="54" name="Rectangle 53"/>
          <p:cNvSpPr/>
          <p:nvPr/>
        </p:nvSpPr>
        <p:spPr>
          <a:xfrm>
            <a:off x="9619488" y="4773168"/>
            <a:ext cx="1664208" cy="969264"/>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92640" y="4855464"/>
            <a:ext cx="1517904" cy="804672"/>
          </a:xfrm>
          <a:prstGeom prst="rect">
            <a:avLst/>
          </a:prstGeom>
          <a:noFill/>
        </p:spPr>
        <p:txBody>
          <a:bodyPr wrap="square" lIns="0" rIns="0" tIns="0" bIns="0" anchor="ctr">
            <a:spAutoFit/>
          </a:bodyPr>
          <a:lstStyle/>
          <a:p>
            <a:pPr algn="ctr">
              <a:lnSpc>
                <a:spcPct val="100000"/>
              </a:lnSpc>
            </a:pPr>
            <a:r>
              <a:rPr sz="900" b="1">
                <a:solidFill>
                  <a:srgbClr val="1C222E"/>
                </a:solidFill>
                <a:latin typeface="Segoe UI"/>
              </a:rPr>
              <a:t>governance/audit.py</a:t>
            </a:r>
          </a:p>
          <a:p>
            <a:pPr algn="ctr"/>
            <a:r>
              <a:rPr sz="720" b="0">
                <a:solidFill>
                  <a:srgbClr val="535C6B"/>
                </a:solidFill>
                <a:latin typeface="Segoe UI"/>
              </a:rPr>
              <a:t>records each step and
who took it  ·  written
to a JSON Lines 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4. FINAL SYSTEM ARCHITECTURE</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Five units, each with its own permissions</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6</a:t>
            </a:r>
          </a:p>
        </p:txBody>
      </p:sp>
      <p:graphicFrame>
        <p:nvGraphicFramePr>
          <p:cNvPr id="7" name="Table 6"/>
          <p:cNvGraphicFramePr>
            <a:graphicFrameLocks noGrp="1"/>
          </p:cNvGraphicFramePr>
          <p:nvPr/>
        </p:nvGraphicFramePr>
        <p:xfrm>
          <a:off x="777240" y="1783080"/>
          <a:ext cx="10634472" cy="2852928"/>
        </p:xfrm>
        <a:graphic>
          <a:graphicData uri="http://schemas.openxmlformats.org/drawingml/2006/table">
            <a:tbl>
              <a:tblPr firstRow="1">
                <a:tableStyleId>{5C22544A-7EE6-4342-B048-85BDC9FD1C3A}</a:tableStyleId>
              </a:tblPr>
              <a:tblGrid>
                <a:gridCol w="1051560"/>
                <a:gridCol w="4114800"/>
                <a:gridCol w="2743200"/>
                <a:gridCol w="2724912"/>
              </a:tblGrid>
              <a:tr h="475488">
                <a:tc>
                  <a:txBody>
                    <a:bodyPr wrap="square"/>
                    <a:lstStyle/>
                    <a:p>
                      <a:pPr>
                        <a:lnSpc>
                          <a:spcPct val="110000"/>
                        </a:lnSpc>
                      </a:pPr>
                      <a:r>
                        <a:rPr sz="1100" b="1">
                          <a:solidFill>
                            <a:srgbClr val="FFFFFF"/>
                          </a:solidFill>
                          <a:latin typeface="Segoe UI"/>
                        </a:rPr>
                        <a:t>Unit</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What it does</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Can use</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Cannot use</a:t>
                      </a:r>
                    </a:p>
                  </a:txBody>
                  <a:tcPr marL="100584" marR="100584" marT="45720" marB="45720" anchor="ctr">
                    <a:solidFill>
                      <a:srgbClr val="C41230"/>
                    </a:solidFill>
                  </a:tcPr>
                </a:tc>
              </a:tr>
              <a:tr h="475488">
                <a:tc>
                  <a:txBody>
                    <a:bodyPr wrap="square"/>
                    <a:lstStyle/>
                    <a:p>
                      <a:pPr>
                        <a:lnSpc>
                          <a:spcPct val="110000"/>
                        </a:lnSpc>
                      </a:pPr>
                      <a:r>
                        <a:rPr sz="1150" b="1">
                          <a:solidFill>
                            <a:srgbClr val="1C222E"/>
                          </a:solidFill>
                          <a:latin typeface="Segoe UI"/>
                        </a:rPr>
                        <a:t>Dino</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Talks to the guest. The only unit that runs a model</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nothing</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every tool in the system</a:t>
                      </a:r>
                    </a:p>
                  </a:txBody>
                  <a:tcPr marL="100584" marR="100584" marT="45720" marB="45720" anchor="ctr">
                    <a:solidFill>
                      <a:srgbClr val="FFFFFF"/>
                    </a:solidFill>
                  </a:tcPr>
                </a:tc>
              </a:tr>
              <a:tr h="475488">
                <a:tc>
                  <a:txBody>
                    <a:bodyPr wrap="square"/>
                    <a:lstStyle/>
                    <a:p>
                      <a:pPr>
                        <a:lnSpc>
                          <a:spcPct val="110000"/>
                        </a:lnSpc>
                      </a:pPr>
                      <a:r>
                        <a:rPr sz="1150" b="1">
                          <a:solidFill>
                            <a:srgbClr val="1C222E"/>
                          </a:solidFill>
                          <a:latin typeface="Segoe UI"/>
                        </a:rPr>
                        <a:t>Scout</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Finds tables. Never takes one</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search, perks, availability</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book, cancel, write to memory</a:t>
                      </a:r>
                    </a:p>
                  </a:txBody>
                  <a:tcPr marL="100584" marR="100584" marT="45720" marB="45720" anchor="ctr">
                    <a:solidFill>
                      <a:srgbClr val="F3F4F6"/>
                    </a:solidFill>
                  </a:tcPr>
                </a:tc>
              </a:tr>
              <a:tr h="475488">
                <a:tc>
                  <a:txBody>
                    <a:bodyPr wrap="square"/>
                    <a:lstStyle/>
                    <a:p>
                      <a:pPr>
                        <a:lnSpc>
                          <a:spcPct val="110000"/>
                        </a:lnSpc>
                      </a:pPr>
                      <a:r>
                        <a:rPr sz="1150" b="1">
                          <a:solidFill>
                            <a:srgbClr val="1C222E"/>
                          </a:solidFill>
                          <a:latin typeface="Segoe UI"/>
                        </a:rPr>
                        <a:t>Curator</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Looks up what the food is like</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menu highlights, photos</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search, book, write to memory</a:t>
                      </a:r>
                    </a:p>
                  </a:txBody>
                  <a:tcPr marL="100584" marR="100584" marT="45720" marB="45720" anchor="ctr">
                    <a:solidFill>
                      <a:srgbClr val="FFFFFF"/>
                    </a:solidFill>
                  </a:tcPr>
                </a:tc>
              </a:tr>
              <a:tr h="475488">
                <a:tc>
                  <a:txBody>
                    <a:bodyPr wrap="square"/>
                    <a:lstStyle/>
                    <a:p>
                      <a:pPr>
                        <a:lnSpc>
                          <a:spcPct val="110000"/>
                        </a:lnSpc>
                      </a:pPr>
                      <a:r>
                        <a:rPr sz="1150" b="1">
                          <a:solidFill>
                            <a:srgbClr val="1C222E"/>
                          </a:solidFill>
                          <a:latin typeface="Segoe UI"/>
                        </a:rPr>
                        <a:t>Steward</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Looks after the guest's saved profile</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remember, recognise an email</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search, book, reach the web</a:t>
                      </a:r>
                    </a:p>
                  </a:txBody>
                  <a:tcPr marL="100584" marR="100584" marT="45720" marB="45720" anchor="ctr">
                    <a:solidFill>
                      <a:srgbClr val="F3F4F6"/>
                    </a:solidFill>
                  </a:tcPr>
                </a:tc>
              </a:tr>
              <a:tr h="475488">
                <a:tc>
                  <a:txBody>
                    <a:bodyPr wrap="square"/>
                    <a:lstStyle/>
                    <a:p>
                      <a:pPr>
                        <a:lnSpc>
                          <a:spcPct val="110000"/>
                        </a:lnSpc>
                      </a:pPr>
                      <a:r>
                        <a:rPr sz="1150" b="1">
                          <a:solidFill>
                            <a:srgbClr val="1C222E"/>
                          </a:solidFill>
                          <a:latin typeface="Segoe UI"/>
                        </a:rPr>
                        <a:t>Booker</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The only unit that books or cancels</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create and cancel bookings</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search, reach the web, change identity</a:t>
                      </a:r>
                    </a:p>
                  </a:txBody>
                  <a:tcPr marL="100584" marR="100584" marT="45720" marB="45720" anchor="ctr">
                    <a:solidFill>
                      <a:srgbClr val="FFFFFF"/>
                    </a:solidFill>
                  </a:tcPr>
                </a:tc>
              </a:tr>
            </a:tbl>
          </a:graphicData>
        </a:graphic>
      </p:graphicFrame>
      <p:sp>
        <p:nvSpPr>
          <p:cNvPr id="8" name="TextBox 7"/>
          <p:cNvSpPr txBox="1"/>
          <p:nvPr/>
        </p:nvSpPr>
        <p:spPr>
          <a:xfrm>
            <a:off x="777240" y="5029200"/>
            <a:ext cx="10637215" cy="1005840"/>
          </a:xfrm>
          <a:prstGeom prst="rect">
            <a:avLst/>
          </a:prstGeom>
          <a:noFill/>
        </p:spPr>
        <p:txBody>
          <a:bodyPr wrap="square" lIns="0" rIns="0" tIns="0" bIns="0" anchor="t">
            <a:spAutoFit/>
          </a:bodyPr>
          <a:lstStyle/>
          <a:p>
            <a:pPr algn="l">
              <a:lnSpc>
                <a:spcPct val="125000"/>
              </a:lnSpc>
            </a:pPr>
            <a:r>
              <a:rPr sz="1250" b="0">
                <a:solidFill>
                  <a:srgbClr val="535C6B"/>
                </a:solidFill>
                <a:latin typeface="Segoe UI"/>
              </a:rPr>
              <a:t>Dino runs the model and holds no tools of its own, so it has to ask another unit. If a unit tries to use something it was not given, the code raises an error rather than letting it through. Booker cannot search, so a booking can only name a restaurant Scout already found. The permissions live in five markdown files, and changing one means editing the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4. FINAL SYSTEM ARCHITECTURE</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How a request moves through the system</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7</a:t>
            </a:r>
          </a:p>
        </p:txBody>
      </p:sp>
      <p:sp>
        <p:nvSpPr>
          <p:cNvPr id="7" name="TextBox 6"/>
          <p:cNvSpPr txBox="1"/>
          <p:nvPr/>
        </p:nvSpPr>
        <p:spPr>
          <a:xfrm>
            <a:off x="777240" y="1719072"/>
            <a:ext cx="10637215" cy="274320"/>
          </a:xfrm>
          <a:prstGeom prst="rect">
            <a:avLst/>
          </a:prstGeom>
          <a:noFill/>
        </p:spPr>
        <p:txBody>
          <a:bodyPr wrap="square" lIns="0" rIns="0" tIns="0" bIns="0" anchor="t">
            <a:spAutoFit/>
          </a:bodyPr>
          <a:lstStyle/>
          <a:p>
            <a:pPr algn="l">
              <a:lnSpc>
                <a:spcPct val="100000"/>
              </a:lnSpc>
            </a:pPr>
            <a:r>
              <a:rPr sz="1000" b="1">
                <a:solidFill>
                  <a:srgbClr val="C41230"/>
                </a:solidFill>
                <a:latin typeface="Segoe UI"/>
              </a:rPr>
              <a:t>THE SCRIPTED PATH, STEP BY STEP</a:t>
            </a:r>
          </a:p>
        </p:txBody>
      </p:sp>
      <p:sp>
        <p:nvSpPr>
          <p:cNvPr id="8" name="Rectangle 7"/>
          <p:cNvSpPr/>
          <p:nvPr/>
        </p:nvSpPr>
        <p:spPr>
          <a:xfrm>
            <a:off x="777240" y="2057400"/>
            <a:ext cx="1088136" cy="45720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139696"/>
            <a:ext cx="941832" cy="292608"/>
          </a:xfrm>
          <a:prstGeom prst="rect">
            <a:avLst/>
          </a:prstGeom>
          <a:noFill/>
        </p:spPr>
        <p:txBody>
          <a:bodyPr wrap="square" lIns="0" rIns="0" tIns="0" bIns="0" anchor="ctr">
            <a:spAutoFit/>
          </a:bodyPr>
          <a:lstStyle/>
          <a:p>
            <a:pPr algn="ctr">
              <a:lnSpc>
                <a:spcPct val="100000"/>
              </a:lnSpc>
            </a:pPr>
            <a:r>
              <a:rPr sz="1150" b="1">
                <a:solidFill>
                  <a:srgbClr val="1C222E"/>
                </a:solidFill>
                <a:latin typeface="Segoe UI"/>
              </a:rPr>
              <a:t>parse</a:t>
            </a:r>
          </a:p>
        </p:txBody>
      </p:sp>
      <p:sp>
        <p:nvSpPr>
          <p:cNvPr id="10" name="Right Arrow 9"/>
          <p:cNvSpPr/>
          <p:nvPr/>
        </p:nvSpPr>
        <p:spPr>
          <a:xfrm>
            <a:off x="1901952" y="2167128"/>
            <a:ext cx="192024" cy="219456"/>
          </a:xfrm>
          <a:prstGeom prst="right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30552" y="2057400"/>
            <a:ext cx="1088136" cy="45720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03704" y="2139696"/>
            <a:ext cx="941832" cy="292608"/>
          </a:xfrm>
          <a:prstGeom prst="rect">
            <a:avLst/>
          </a:prstGeom>
          <a:noFill/>
        </p:spPr>
        <p:txBody>
          <a:bodyPr wrap="square" lIns="0" rIns="0" tIns="0" bIns="0" anchor="ctr">
            <a:spAutoFit/>
          </a:bodyPr>
          <a:lstStyle/>
          <a:p>
            <a:pPr algn="ctr">
              <a:lnSpc>
                <a:spcPct val="100000"/>
              </a:lnSpc>
            </a:pPr>
            <a:r>
              <a:rPr sz="1150" b="1">
                <a:solidFill>
                  <a:srgbClr val="1C222E"/>
                </a:solidFill>
                <a:latin typeface="Segoe UI"/>
              </a:rPr>
              <a:t>search</a:t>
            </a:r>
          </a:p>
        </p:txBody>
      </p:sp>
      <p:sp>
        <p:nvSpPr>
          <p:cNvPr id="13" name="Right Arrow 12"/>
          <p:cNvSpPr/>
          <p:nvPr/>
        </p:nvSpPr>
        <p:spPr>
          <a:xfrm>
            <a:off x="3255264" y="2167128"/>
            <a:ext cx="192024" cy="219456"/>
          </a:xfrm>
          <a:prstGeom prst="right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83864" y="2057400"/>
            <a:ext cx="1088136" cy="45720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57016" y="2139696"/>
            <a:ext cx="941832" cy="292608"/>
          </a:xfrm>
          <a:prstGeom prst="rect">
            <a:avLst/>
          </a:prstGeom>
          <a:noFill/>
        </p:spPr>
        <p:txBody>
          <a:bodyPr wrap="square" lIns="0" rIns="0" tIns="0" bIns="0" anchor="ctr">
            <a:spAutoFit/>
          </a:bodyPr>
          <a:lstStyle/>
          <a:p>
            <a:pPr algn="ctr">
              <a:lnSpc>
                <a:spcPct val="100000"/>
              </a:lnSpc>
            </a:pPr>
            <a:r>
              <a:rPr sz="1150" b="1">
                <a:solidFill>
                  <a:srgbClr val="1C222E"/>
                </a:solidFill>
                <a:latin typeface="Segoe UI"/>
              </a:rPr>
              <a:t>perks</a:t>
            </a:r>
          </a:p>
        </p:txBody>
      </p:sp>
      <p:sp>
        <p:nvSpPr>
          <p:cNvPr id="16" name="Right Arrow 15"/>
          <p:cNvSpPr/>
          <p:nvPr/>
        </p:nvSpPr>
        <p:spPr>
          <a:xfrm>
            <a:off x="4608576" y="2167128"/>
            <a:ext cx="192024" cy="219456"/>
          </a:xfrm>
          <a:prstGeom prst="right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37176" y="2057400"/>
            <a:ext cx="1088136" cy="45720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10328" y="2139696"/>
            <a:ext cx="941832" cy="292608"/>
          </a:xfrm>
          <a:prstGeom prst="rect">
            <a:avLst/>
          </a:prstGeom>
          <a:noFill/>
        </p:spPr>
        <p:txBody>
          <a:bodyPr wrap="square" lIns="0" rIns="0" tIns="0" bIns="0" anchor="ctr">
            <a:spAutoFit/>
          </a:bodyPr>
          <a:lstStyle/>
          <a:p>
            <a:pPr algn="ctr">
              <a:lnSpc>
                <a:spcPct val="100000"/>
              </a:lnSpc>
            </a:pPr>
            <a:r>
              <a:rPr sz="1150" b="1">
                <a:solidFill>
                  <a:srgbClr val="1C222E"/>
                </a:solidFill>
                <a:latin typeface="Segoe UI"/>
              </a:rPr>
              <a:t>rank</a:t>
            </a:r>
          </a:p>
        </p:txBody>
      </p:sp>
      <p:sp>
        <p:nvSpPr>
          <p:cNvPr id="19" name="Right Arrow 18"/>
          <p:cNvSpPr/>
          <p:nvPr/>
        </p:nvSpPr>
        <p:spPr>
          <a:xfrm>
            <a:off x="5961888" y="2167128"/>
            <a:ext cx="192024" cy="219456"/>
          </a:xfrm>
          <a:prstGeom prst="right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2057400"/>
            <a:ext cx="1088136" cy="45720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2139696"/>
            <a:ext cx="941832" cy="292608"/>
          </a:xfrm>
          <a:prstGeom prst="rect">
            <a:avLst/>
          </a:prstGeom>
          <a:noFill/>
        </p:spPr>
        <p:txBody>
          <a:bodyPr wrap="square" lIns="0" rIns="0" tIns="0" bIns="0" anchor="ctr">
            <a:spAutoFit/>
          </a:bodyPr>
          <a:lstStyle/>
          <a:p>
            <a:pPr algn="ctr">
              <a:lnSpc>
                <a:spcPct val="100000"/>
              </a:lnSpc>
            </a:pPr>
            <a:r>
              <a:rPr sz="1150" b="1">
                <a:solidFill>
                  <a:srgbClr val="1C222E"/>
                </a:solidFill>
                <a:latin typeface="Segoe UI"/>
              </a:rPr>
              <a:t>propose</a:t>
            </a:r>
          </a:p>
        </p:txBody>
      </p:sp>
      <p:sp>
        <p:nvSpPr>
          <p:cNvPr id="22" name="Right Arrow 21"/>
          <p:cNvSpPr/>
          <p:nvPr/>
        </p:nvSpPr>
        <p:spPr>
          <a:xfrm>
            <a:off x="7315200" y="2167128"/>
            <a:ext cx="192024" cy="219456"/>
          </a:xfrm>
          <a:prstGeom prst="right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43800" y="2057400"/>
            <a:ext cx="1088136" cy="457200"/>
          </a:xfrm>
          <a:prstGeom prst="rect">
            <a:avLst/>
          </a:prstGeom>
          <a:solidFill>
            <a:srgbClr val="C41230"/>
          </a:solidFill>
          <a:ln w="12700">
            <a:solidFill>
              <a:srgbClr val="C41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16952" y="2139696"/>
            <a:ext cx="941832" cy="292608"/>
          </a:xfrm>
          <a:prstGeom prst="rect">
            <a:avLst/>
          </a:prstGeom>
          <a:noFill/>
        </p:spPr>
        <p:txBody>
          <a:bodyPr wrap="square" lIns="0" rIns="0" tIns="0" bIns="0" anchor="ctr">
            <a:spAutoFit/>
          </a:bodyPr>
          <a:lstStyle/>
          <a:p>
            <a:pPr algn="ctr">
              <a:lnSpc>
                <a:spcPct val="100000"/>
              </a:lnSpc>
            </a:pPr>
            <a:r>
              <a:rPr sz="1150" b="1">
                <a:solidFill>
                  <a:srgbClr val="FFFFFF"/>
                </a:solidFill>
                <a:latin typeface="Segoe UI"/>
              </a:rPr>
              <a:t>APPROVE</a:t>
            </a:r>
          </a:p>
        </p:txBody>
      </p:sp>
      <p:sp>
        <p:nvSpPr>
          <p:cNvPr id="25" name="Right Arrow 24"/>
          <p:cNvSpPr/>
          <p:nvPr/>
        </p:nvSpPr>
        <p:spPr>
          <a:xfrm>
            <a:off x="8668512" y="2167128"/>
            <a:ext cx="192024" cy="219456"/>
          </a:xfrm>
          <a:prstGeom prst="right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97112" y="2057400"/>
            <a:ext cx="1088136" cy="45720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70264" y="2139696"/>
            <a:ext cx="941832" cy="292608"/>
          </a:xfrm>
          <a:prstGeom prst="rect">
            <a:avLst/>
          </a:prstGeom>
          <a:noFill/>
        </p:spPr>
        <p:txBody>
          <a:bodyPr wrap="square" lIns="0" rIns="0" tIns="0" bIns="0" anchor="ctr">
            <a:spAutoFit/>
          </a:bodyPr>
          <a:lstStyle/>
          <a:p>
            <a:pPr algn="ctr">
              <a:lnSpc>
                <a:spcPct val="100000"/>
              </a:lnSpc>
            </a:pPr>
            <a:r>
              <a:rPr sz="1150" b="1">
                <a:solidFill>
                  <a:srgbClr val="1C222E"/>
                </a:solidFill>
                <a:latin typeface="Segoe UI"/>
              </a:rPr>
              <a:t>book</a:t>
            </a:r>
          </a:p>
        </p:txBody>
      </p:sp>
      <p:sp>
        <p:nvSpPr>
          <p:cNvPr id="28" name="Right Arrow 27"/>
          <p:cNvSpPr/>
          <p:nvPr/>
        </p:nvSpPr>
        <p:spPr>
          <a:xfrm>
            <a:off x="10021824" y="2167128"/>
            <a:ext cx="192024" cy="219456"/>
          </a:xfrm>
          <a:prstGeom prst="rightArrow">
            <a:avLst/>
          </a:prstGeom>
          <a:solidFill>
            <a:srgbClr val="8A92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250424" y="2057400"/>
            <a:ext cx="1088136" cy="457200"/>
          </a:xfrm>
          <a:prstGeom prst="rect">
            <a:avLst/>
          </a:prstGeom>
          <a:solidFill>
            <a:srgbClr val="FFFFFF"/>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23576" y="2139696"/>
            <a:ext cx="941832" cy="292608"/>
          </a:xfrm>
          <a:prstGeom prst="rect">
            <a:avLst/>
          </a:prstGeom>
          <a:noFill/>
        </p:spPr>
        <p:txBody>
          <a:bodyPr wrap="square" lIns="0" rIns="0" tIns="0" bIns="0" anchor="ctr">
            <a:spAutoFit/>
          </a:bodyPr>
          <a:lstStyle/>
          <a:p>
            <a:pPr algn="ctr">
              <a:lnSpc>
                <a:spcPct val="100000"/>
              </a:lnSpc>
            </a:pPr>
            <a:r>
              <a:rPr sz="1150" b="1">
                <a:solidFill>
                  <a:srgbClr val="1C222E"/>
                </a:solidFill>
                <a:latin typeface="Segoe UI"/>
              </a:rPr>
              <a:t>record</a:t>
            </a:r>
          </a:p>
        </p:txBody>
      </p:sp>
      <p:sp>
        <p:nvSpPr>
          <p:cNvPr id="31" name="TextBox 30"/>
          <p:cNvSpPr txBox="1"/>
          <p:nvPr/>
        </p:nvSpPr>
        <p:spPr>
          <a:xfrm>
            <a:off x="777240" y="2606040"/>
            <a:ext cx="4754880" cy="274320"/>
          </a:xfrm>
          <a:prstGeom prst="rect">
            <a:avLst/>
          </a:prstGeom>
          <a:noFill/>
        </p:spPr>
        <p:txBody>
          <a:bodyPr wrap="square" lIns="0" rIns="0" tIns="0" bIns="0" anchor="t">
            <a:spAutoFit/>
          </a:bodyPr>
          <a:lstStyle/>
          <a:p>
            <a:pPr algn="l">
              <a:lnSpc>
                <a:spcPct val="100000"/>
              </a:lnSpc>
            </a:pPr>
            <a:r>
              <a:rPr sz="1000" b="0">
                <a:solidFill>
                  <a:srgbClr val="8A929E"/>
                </a:solidFill>
                <a:latin typeface="Segoe UI"/>
              </a:rPr>
              <a:t>one retry back to search if the first one was too narrow</a:t>
            </a:r>
          </a:p>
        </p:txBody>
      </p:sp>
      <p:sp>
        <p:nvSpPr>
          <p:cNvPr id="32" name="TextBox 31"/>
          <p:cNvSpPr txBox="1"/>
          <p:nvPr/>
        </p:nvSpPr>
        <p:spPr>
          <a:xfrm>
            <a:off x="6720840" y="2606040"/>
            <a:ext cx="4663440" cy="274320"/>
          </a:xfrm>
          <a:prstGeom prst="rect">
            <a:avLst/>
          </a:prstGeom>
          <a:noFill/>
        </p:spPr>
        <p:txBody>
          <a:bodyPr wrap="square" lIns="0" rIns="0" tIns="0" bIns="0" anchor="t">
            <a:spAutoFit/>
          </a:bodyPr>
          <a:lstStyle/>
          <a:p>
            <a:pPr algn="l">
              <a:lnSpc>
                <a:spcPct val="100000"/>
              </a:lnSpc>
            </a:pPr>
            <a:r>
              <a:rPr sz="1000" b="0">
                <a:solidFill>
                  <a:srgbClr val="C41230"/>
                </a:solidFill>
                <a:latin typeface="Segoe UI"/>
              </a:rPr>
              <a:t>the run stops here until a person approves</a:t>
            </a:r>
          </a:p>
        </p:txBody>
      </p:sp>
      <p:sp>
        <p:nvSpPr>
          <p:cNvPr id="33" name="TextBox 32"/>
          <p:cNvSpPr txBox="1"/>
          <p:nvPr/>
        </p:nvSpPr>
        <p:spPr>
          <a:xfrm>
            <a:off x="777240" y="3108960"/>
            <a:ext cx="10637215" cy="1920240"/>
          </a:xfrm>
          <a:prstGeom prst="rect">
            <a:avLst/>
          </a:prstGeom>
          <a:noFill/>
        </p:spPr>
        <p:txBody>
          <a:bodyPr wrap="square" lIns="0" rIns="0" tIns="0" bIns="0">
            <a:spAutoFit/>
          </a:bodyPr>
          <a:lstStyle/>
          <a:p>
            <a:pPr>
              <a:lnSpc>
                <a:spcPct val="116000"/>
              </a:lnSpc>
              <a:spcAft>
                <a:spcPts val="1300"/>
              </a:spcAft>
            </a:pPr>
            <a:r>
              <a:rPr sz="1350">
                <a:solidFill>
                  <a:srgbClr val="C41230"/>
                </a:solidFill>
                <a:latin typeface="Segoe UI"/>
              </a:rPr>
              <a:t>▸  </a:t>
            </a:r>
            <a:r>
              <a:rPr sz="1350" b="1">
                <a:solidFill>
                  <a:srgbClr val="1C222E"/>
                </a:solidFill>
                <a:latin typeface="Segoe UI"/>
              </a:rPr>
              <a:t>Order of work.  </a:t>
            </a:r>
            <a:r>
              <a:rPr sz="1350">
                <a:solidFill>
                  <a:srgbClr val="1C222E"/>
                </a:solidFill>
                <a:latin typeface="Segoe UI"/>
              </a:rPr>
              <a:t>The scripted path is a state machine, so the steps are fixed and visible. The chat path is not: a guest can name a restaurant straight away and skip the shortlist, so Dino decides which unit to ask next.</a:t>
            </a:r>
          </a:p>
          <a:p>
            <a:pPr>
              <a:lnSpc>
                <a:spcPct val="116000"/>
              </a:lnSpc>
              <a:spcAft>
                <a:spcPts val="1300"/>
              </a:spcAft>
            </a:pPr>
            <a:r>
              <a:rPr sz="1350">
                <a:solidFill>
                  <a:srgbClr val="C41230"/>
                </a:solidFill>
                <a:latin typeface="Segoe UI"/>
              </a:rPr>
              <a:t>▸  </a:t>
            </a:r>
            <a:r>
              <a:rPr sz="1350" b="1">
                <a:solidFill>
                  <a:srgbClr val="1C222E"/>
                </a:solidFill>
                <a:latin typeface="Segoe UI"/>
              </a:rPr>
              <a:t>Memory.  </a:t>
            </a:r>
            <a:r>
              <a:rPr sz="1350">
                <a:solidFill>
                  <a:srgbClr val="1C222E"/>
                </a:solidFill>
                <a:latin typeface="Segoe UI"/>
              </a:rPr>
              <a:t>The working state is saved as the conversation goes, which is what lets the run pause at the approval step and pick up later. What the guest tells us between visits is kept in Chroma, keyed by their email.</a:t>
            </a:r>
          </a:p>
          <a:p>
            <a:pPr>
              <a:lnSpc>
                <a:spcPct val="116000"/>
              </a:lnSpc>
              <a:spcAft>
                <a:spcPts val="1300"/>
              </a:spcAft>
            </a:pPr>
            <a:r>
              <a:rPr sz="1350">
                <a:solidFill>
                  <a:srgbClr val="C41230"/>
                </a:solidFill>
                <a:latin typeface="Segoe UI"/>
              </a:rPr>
              <a:t>▸  </a:t>
            </a:r>
            <a:r>
              <a:rPr sz="1350" b="1">
                <a:solidFill>
                  <a:srgbClr val="1C222E"/>
                </a:solidFill>
                <a:latin typeface="Segoe UI"/>
              </a:rPr>
              <a:t>Retrieval.  </a:t>
            </a:r>
            <a:r>
              <a:rPr sz="1350">
                <a:solidFill>
                  <a:srgbClr val="1C222E"/>
                </a:solidFill>
                <a:latin typeface="Segoe UI"/>
              </a:rPr>
              <a:t>Perks are scored on how well they match the request, after dropping any that have expired, do not run that day, or do not suit the party size.</a:t>
            </a:r>
          </a:p>
        </p:txBody>
      </p:sp>
      <p:sp>
        <p:nvSpPr>
          <p:cNvPr id="34" name="Rectangle 33"/>
          <p:cNvSpPr/>
          <p:nvPr/>
        </p:nvSpPr>
        <p:spPr>
          <a:xfrm>
            <a:off x="777240" y="5074920"/>
            <a:ext cx="3310128" cy="841248"/>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5193792"/>
            <a:ext cx="3017520" cy="256032"/>
          </a:xfrm>
          <a:prstGeom prst="rect">
            <a:avLst/>
          </a:prstGeom>
          <a:noFill/>
        </p:spPr>
        <p:txBody>
          <a:bodyPr wrap="square" lIns="0" rIns="0" tIns="0" bIns="0" anchor="t">
            <a:spAutoFit/>
          </a:bodyPr>
          <a:lstStyle/>
          <a:p>
            <a:pPr algn="l">
              <a:lnSpc>
                <a:spcPct val="100000"/>
              </a:lnSpc>
            </a:pPr>
            <a:r>
              <a:rPr sz="1250" b="1">
                <a:solidFill>
                  <a:srgbClr val="C41230"/>
                </a:solidFill>
                <a:latin typeface="Segoe UI"/>
              </a:rPr>
              <a:t>Two model calls per turn</a:t>
            </a:r>
          </a:p>
        </p:txBody>
      </p:sp>
      <p:sp>
        <p:nvSpPr>
          <p:cNvPr id="36" name="TextBox 35"/>
          <p:cNvSpPr txBox="1"/>
          <p:nvPr/>
        </p:nvSpPr>
        <p:spPr>
          <a:xfrm>
            <a:off x="960120" y="5440680"/>
            <a:ext cx="3017520" cy="411480"/>
          </a:xfrm>
          <a:prstGeom prst="rect">
            <a:avLst/>
          </a:prstGeom>
          <a:noFill/>
        </p:spPr>
        <p:txBody>
          <a:bodyPr wrap="square" lIns="0" rIns="0" tIns="0" bIns="0" anchor="t">
            <a:spAutoFit/>
          </a:bodyPr>
          <a:lstStyle/>
          <a:p>
            <a:pPr algn="l">
              <a:lnSpc>
                <a:spcPct val="115000"/>
              </a:lnSpc>
            </a:pPr>
            <a:r>
              <a:rPr sz="950" b="0">
                <a:solidFill>
                  <a:srgbClr val="535C6B"/>
                </a:solidFill>
                <a:latin typeface="Segoe UI"/>
              </a:rPr>
              <a:t>the whole chat path, and a
test keeps it that way</a:t>
            </a:r>
          </a:p>
        </p:txBody>
      </p:sp>
      <p:sp>
        <p:nvSpPr>
          <p:cNvPr id="37" name="Rectangle 36"/>
          <p:cNvSpPr/>
          <p:nvPr/>
        </p:nvSpPr>
        <p:spPr>
          <a:xfrm>
            <a:off x="4389120" y="5074920"/>
            <a:ext cx="3310128" cy="841248"/>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0" y="5193792"/>
            <a:ext cx="3017520" cy="256032"/>
          </a:xfrm>
          <a:prstGeom prst="rect">
            <a:avLst/>
          </a:prstGeom>
          <a:noFill/>
        </p:spPr>
        <p:txBody>
          <a:bodyPr wrap="square" lIns="0" rIns="0" tIns="0" bIns="0" anchor="t">
            <a:spAutoFit/>
          </a:bodyPr>
          <a:lstStyle/>
          <a:p>
            <a:pPr algn="l">
              <a:lnSpc>
                <a:spcPct val="100000"/>
              </a:lnSpc>
            </a:pPr>
            <a:r>
              <a:rPr sz="1250" b="1">
                <a:solidFill>
                  <a:srgbClr val="C41230"/>
                </a:solidFill>
                <a:latin typeface="Segoe UI"/>
              </a:rPr>
              <a:t>Six tool steps at most</a:t>
            </a:r>
          </a:p>
        </p:txBody>
      </p:sp>
      <p:sp>
        <p:nvSpPr>
          <p:cNvPr id="39" name="TextBox 38"/>
          <p:cNvSpPr txBox="1"/>
          <p:nvPr/>
        </p:nvSpPr>
        <p:spPr>
          <a:xfrm>
            <a:off x="4572000" y="5440680"/>
            <a:ext cx="3017520" cy="411480"/>
          </a:xfrm>
          <a:prstGeom prst="rect">
            <a:avLst/>
          </a:prstGeom>
          <a:noFill/>
        </p:spPr>
        <p:txBody>
          <a:bodyPr wrap="square" lIns="0" rIns="0" tIns="0" bIns="0" anchor="t">
            <a:spAutoFit/>
          </a:bodyPr>
          <a:lstStyle/>
          <a:p>
            <a:pPr algn="l">
              <a:lnSpc>
                <a:spcPct val="115000"/>
              </a:lnSpc>
            </a:pPr>
            <a:r>
              <a:rPr sz="950" b="0">
                <a:solidFill>
                  <a:srgbClr val="535C6B"/>
                </a:solidFill>
                <a:latin typeface="Segoe UI"/>
              </a:rPr>
              <a:t>so one turn cannot run away
with itself</a:t>
            </a:r>
          </a:p>
        </p:txBody>
      </p:sp>
      <p:sp>
        <p:nvSpPr>
          <p:cNvPr id="40" name="Rectangle 39"/>
          <p:cNvSpPr/>
          <p:nvPr/>
        </p:nvSpPr>
        <p:spPr>
          <a:xfrm>
            <a:off x="8001000" y="5074920"/>
            <a:ext cx="3310128" cy="841248"/>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83880" y="5193792"/>
            <a:ext cx="3017520" cy="256032"/>
          </a:xfrm>
          <a:prstGeom prst="rect">
            <a:avLst/>
          </a:prstGeom>
          <a:noFill/>
        </p:spPr>
        <p:txBody>
          <a:bodyPr wrap="square" lIns="0" rIns="0" tIns="0" bIns="0" anchor="t">
            <a:spAutoFit/>
          </a:bodyPr>
          <a:lstStyle/>
          <a:p>
            <a:pPr algn="l">
              <a:lnSpc>
                <a:spcPct val="100000"/>
              </a:lnSpc>
            </a:pPr>
            <a:r>
              <a:rPr sz="1250" b="1">
                <a:solidFill>
                  <a:srgbClr val="C41230"/>
                </a:solidFill>
                <a:latin typeface="Segoe UI"/>
              </a:rPr>
              <a:t>No API key needed</a:t>
            </a:r>
          </a:p>
        </p:txBody>
      </p:sp>
      <p:sp>
        <p:nvSpPr>
          <p:cNvPr id="42" name="TextBox 41"/>
          <p:cNvSpPr txBox="1"/>
          <p:nvPr/>
        </p:nvSpPr>
        <p:spPr>
          <a:xfrm>
            <a:off x="8183880" y="5440680"/>
            <a:ext cx="3017520" cy="411480"/>
          </a:xfrm>
          <a:prstGeom prst="rect">
            <a:avLst/>
          </a:prstGeom>
          <a:noFill/>
        </p:spPr>
        <p:txBody>
          <a:bodyPr wrap="square" lIns="0" rIns="0" tIns="0" bIns="0" anchor="t">
            <a:spAutoFit/>
          </a:bodyPr>
          <a:lstStyle/>
          <a:p>
            <a:pPr algn="l">
              <a:lnSpc>
                <a:spcPct val="115000"/>
              </a:lnSpc>
            </a:pPr>
            <a:r>
              <a:rPr sz="950" b="0">
                <a:solidFill>
                  <a:srgbClr val="535C6B"/>
                </a:solidFill>
                <a:latin typeface="Segoe UI"/>
              </a:rPr>
              <a:t>fixtures and fixed logic stand
in for every outside service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5. DESIGN EVOLUTION ACROSS THE PROGRAM</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How the design changed, module by module</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8</a:t>
            </a:r>
          </a:p>
        </p:txBody>
      </p:sp>
      <p:sp>
        <p:nvSpPr>
          <p:cNvPr id="7" name="TextBox 6"/>
          <p:cNvSpPr txBox="1"/>
          <p:nvPr/>
        </p:nvSpPr>
        <p:spPr>
          <a:xfrm>
            <a:off x="777240" y="1536192"/>
            <a:ext cx="10637215" cy="292608"/>
          </a:xfrm>
          <a:prstGeom prst="rect">
            <a:avLst/>
          </a:prstGeom>
          <a:noFill/>
        </p:spPr>
        <p:txBody>
          <a:bodyPr wrap="square" lIns="0" rIns="0" tIns="0" bIns="0" anchor="t">
            <a:spAutoFit/>
          </a:bodyPr>
          <a:lstStyle/>
          <a:p>
            <a:pPr algn="l">
              <a:lnSpc>
                <a:spcPct val="100000"/>
              </a:lnSpc>
            </a:pPr>
            <a:r>
              <a:rPr sz="1150" b="0">
                <a:solidFill>
                  <a:srgbClr val="535C6B"/>
                </a:solidFill>
                <a:latin typeface="Segoe UI"/>
              </a:rPr>
              <a:t>The pattern I kept running into: a rule written into the prompt broke sooner or later, and the same rule written into the code held.</a:t>
            </a:r>
          </a:p>
        </p:txBody>
      </p:sp>
      <p:graphicFrame>
        <p:nvGraphicFramePr>
          <p:cNvPr id="8" name="Table 7"/>
          <p:cNvGraphicFramePr>
            <a:graphicFrameLocks noGrp="1"/>
          </p:cNvGraphicFramePr>
          <p:nvPr/>
        </p:nvGraphicFramePr>
        <p:xfrm>
          <a:off x="777240" y="1956816"/>
          <a:ext cx="10634472" cy="3840480"/>
        </p:xfrm>
        <a:graphic>
          <a:graphicData uri="http://schemas.openxmlformats.org/drawingml/2006/table">
            <a:tbl>
              <a:tblPr firstRow="1">
                <a:tableStyleId>{5C22544A-7EE6-4342-B048-85BDC9FD1C3A}</a:tableStyleId>
              </a:tblPr>
              <a:tblGrid>
                <a:gridCol w="1508760"/>
                <a:gridCol w="4023360"/>
                <a:gridCol w="5102352"/>
              </a:tblGrid>
              <a:tr h="548640">
                <a:tc>
                  <a:txBody>
                    <a:bodyPr wrap="square"/>
                    <a:lstStyle/>
                    <a:p>
                      <a:pPr>
                        <a:lnSpc>
                          <a:spcPct val="110000"/>
                        </a:lnSpc>
                      </a:pPr>
                      <a:r>
                        <a:rPr sz="1100" b="1">
                          <a:solidFill>
                            <a:srgbClr val="FFFFFF"/>
                          </a:solidFill>
                          <a:latin typeface="Segoe UI"/>
                        </a:rPr>
                        <a:t>Module</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What I built</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What it fixed</a:t>
                      </a:r>
                    </a:p>
                  </a:txBody>
                  <a:tcPr marL="100584" marR="100584" marT="45720" marB="45720" anchor="ctr">
                    <a:solidFill>
                      <a:srgbClr val="C41230"/>
                    </a:solidFill>
                  </a:tcPr>
                </a:tc>
              </a:tr>
              <a:tr h="548640">
                <a:tc>
                  <a:txBody>
                    <a:bodyPr wrap="square"/>
                    <a:lstStyle/>
                    <a:p>
                      <a:pPr>
                        <a:lnSpc>
                          <a:spcPct val="110000"/>
                        </a:lnSpc>
                      </a:pPr>
                      <a:r>
                        <a:rPr sz="1050" b="1">
                          <a:solidFill>
                            <a:srgbClr val="1C222E"/>
                          </a:solidFill>
                          <a:latin typeface="Segoe UI"/>
                        </a:rPr>
                        <a:t>1  Scoping</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Search server on Google Places, with an offline copy of the data from day one</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The demo never depended on an API key working on the day</a:t>
                      </a:r>
                    </a:p>
                  </a:txBody>
                  <a:tcPr marL="100584" marR="100584" marT="45720" marB="45720" anchor="ctr">
                    <a:solidFill>
                      <a:srgbClr val="FFFFFF"/>
                    </a:solidFill>
                  </a:tcPr>
                </a:tc>
              </a:tr>
              <a:tr h="548640">
                <a:tc>
                  <a:txBody>
                    <a:bodyPr wrap="square"/>
                    <a:lstStyle/>
                    <a:p>
                      <a:pPr>
                        <a:lnSpc>
                          <a:spcPct val="110000"/>
                        </a:lnSpc>
                      </a:pPr>
                      <a:r>
                        <a:rPr sz="1050" b="1">
                          <a:solidFill>
                            <a:srgbClr val="1C222E"/>
                          </a:solidFill>
                          <a:latin typeface="Segoe UI"/>
                        </a:rPr>
                        <a:t>2  Reasoning,
memory, tools</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A state machine instead of free choice of tools, and memory in three tiers</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The steps became visible, and a returning guest stopped having to repeat themselves</a:t>
                      </a:r>
                    </a:p>
                  </a:txBody>
                  <a:tcPr marL="100584" marR="100584" marT="45720" marB="45720" anchor="ctr">
                    <a:solidFill>
                      <a:srgbClr val="F3F4F6"/>
                    </a:solidFill>
                  </a:tcPr>
                </a:tc>
              </a:tr>
              <a:tr h="548640">
                <a:tc>
                  <a:txBody>
                    <a:bodyPr wrap="square"/>
                    <a:lstStyle/>
                    <a:p>
                      <a:pPr>
                        <a:lnSpc>
                          <a:spcPct val="110000"/>
                        </a:lnSpc>
                      </a:pPr>
                      <a:r>
                        <a:rPr sz="1050" b="1">
                          <a:solidFill>
                            <a:srgbClr val="1C222E"/>
                          </a:solidFill>
                          <a:latin typeface="Segoe UI"/>
                        </a:rPr>
                        <a:t>3  Retrieval</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A perks store with scored retrieval, and a small test set to score it against</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The offers became relevant, and I could measure that instead of guessing</a:t>
                      </a:r>
                    </a:p>
                  </a:txBody>
                  <a:tcPr marL="100584" marR="100584" marT="45720" marB="45720" anchor="ctr">
                    <a:solidFill>
                      <a:srgbClr val="FFFFFF"/>
                    </a:solidFill>
                  </a:tcPr>
                </a:tc>
              </a:tr>
              <a:tr h="548640">
                <a:tc>
                  <a:txBody>
                    <a:bodyPr wrap="square"/>
                    <a:lstStyle/>
                    <a:p>
                      <a:pPr>
                        <a:lnSpc>
                          <a:spcPct val="110000"/>
                        </a:lnSpc>
                      </a:pPr>
                      <a:r>
                        <a:rPr sz="1050" b="1">
                          <a:solidFill>
                            <a:srgbClr val="1C222E"/>
                          </a:solidFill>
                          <a:latin typeface="Segoe UI"/>
                        </a:rPr>
                        <a:t>4  Harness</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Five units, each with its permissions written down and enforced</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A unit can no longer use a tool it was never given, however the model reasons</a:t>
                      </a:r>
                    </a:p>
                  </a:txBody>
                  <a:tcPr marL="100584" marR="100584" marT="45720" marB="45720" anchor="ctr">
                    <a:solidFill>
                      <a:srgbClr val="F3F4F6"/>
                    </a:solidFill>
                  </a:tcPr>
                </a:tc>
              </a:tr>
              <a:tr h="548640">
                <a:tc>
                  <a:txBody>
                    <a:bodyPr wrap="square"/>
                    <a:lstStyle/>
                    <a:p>
                      <a:pPr>
                        <a:lnSpc>
                          <a:spcPct val="110000"/>
                        </a:lnSpc>
                      </a:pPr>
                      <a:r>
                        <a:rPr sz="1050" b="1">
                          <a:solidFill>
                            <a:srgbClr val="1C222E"/>
                          </a:solidFill>
                          <a:latin typeface="Segoe UI"/>
                        </a:rPr>
                        <a:t>5  Multi agent</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Split the units by permission rather than by skill</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The unit that runs the model holds no tools at all, so it has to ask</a:t>
                      </a:r>
                    </a:p>
                  </a:txBody>
                  <a:tcPr marL="100584" marR="100584" marT="45720" marB="45720" anchor="ctr">
                    <a:solidFill>
                      <a:srgbClr val="FFFFFF"/>
                    </a:solidFill>
                  </a:tcPr>
                </a:tc>
              </a:tr>
              <a:tr h="548640">
                <a:tc>
                  <a:txBody>
                    <a:bodyPr wrap="square"/>
                    <a:lstStyle/>
                    <a:p>
                      <a:pPr>
                        <a:lnSpc>
                          <a:spcPct val="110000"/>
                        </a:lnSpc>
                      </a:pPr>
                      <a:r>
                        <a:rPr sz="1050" b="1">
                          <a:solidFill>
                            <a:srgbClr val="1C222E"/>
                          </a:solidFill>
                          <a:latin typeface="Segoe UI"/>
                        </a:rPr>
                        <a:t>6  Governance</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Approval gate, audit trail, and a check on every reply</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Bookings wait for a person, and replies are checked before the guest sees them</a:t>
                      </a:r>
                    </a:p>
                  </a:txBody>
                  <a:tcPr marL="100584" marR="100584" marT="45720" marB="45720" anchor="ctr">
                    <a:solidFill>
                      <a:srgbClr val="F3F4F6"/>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6. IMPLEMENTATION OVERVIEW</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What it is built with</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9</a:t>
            </a:r>
          </a:p>
        </p:txBody>
      </p:sp>
      <p:sp>
        <p:nvSpPr>
          <p:cNvPr id="7" name="TextBox 6"/>
          <p:cNvSpPr txBox="1"/>
          <p:nvPr/>
        </p:nvSpPr>
        <p:spPr>
          <a:xfrm>
            <a:off x="777240" y="1463040"/>
            <a:ext cx="10637215" cy="274320"/>
          </a:xfrm>
          <a:prstGeom prst="rect">
            <a:avLst/>
          </a:prstGeom>
          <a:noFill/>
        </p:spPr>
        <p:txBody>
          <a:bodyPr wrap="square" lIns="0" rIns="0" tIns="0" bIns="0" anchor="t">
            <a:spAutoFit/>
          </a:bodyPr>
          <a:lstStyle/>
          <a:p>
            <a:pPr algn="l">
              <a:lnSpc>
                <a:spcPct val="100000"/>
              </a:lnSpc>
            </a:pPr>
            <a:r>
              <a:rPr sz="1100" b="0">
                <a:solidFill>
                  <a:srgbClr val="535C6B"/>
                </a:solidFill>
                <a:latin typeface="Segoe UI"/>
              </a:rPr>
              <a:t>Four Model Context Protocol (MCP) servers, seven tools between them, each built with the FastMCP library and run as its own process.</a:t>
            </a:r>
          </a:p>
        </p:txBody>
      </p:sp>
      <p:sp>
        <p:nvSpPr>
          <p:cNvPr id="8" name="TextBox 7"/>
          <p:cNvSpPr txBox="1"/>
          <p:nvPr/>
        </p:nvSpPr>
        <p:spPr>
          <a:xfrm>
            <a:off x="777240" y="1810512"/>
            <a:ext cx="10637215" cy="256032"/>
          </a:xfrm>
          <a:prstGeom prst="rect">
            <a:avLst/>
          </a:prstGeom>
          <a:noFill/>
        </p:spPr>
        <p:txBody>
          <a:bodyPr wrap="square" lIns="0" rIns="0" tIns="0" bIns="0" anchor="t">
            <a:spAutoFit/>
          </a:bodyPr>
          <a:lstStyle/>
          <a:p>
            <a:pPr algn="l">
              <a:lnSpc>
                <a:spcPct val="100000"/>
              </a:lnSpc>
            </a:pPr>
            <a:r>
              <a:rPr sz="1000" b="1">
                <a:solidFill>
                  <a:srgbClr val="C41230"/>
                </a:solidFill>
                <a:latin typeface="Segoe UI"/>
              </a:rPr>
              <a:t>THE FOUR MCP SERVERS</a:t>
            </a:r>
          </a:p>
        </p:txBody>
      </p:sp>
      <p:graphicFrame>
        <p:nvGraphicFramePr>
          <p:cNvPr id="9" name="Table 8"/>
          <p:cNvGraphicFramePr>
            <a:graphicFrameLocks noGrp="1"/>
          </p:cNvGraphicFramePr>
          <p:nvPr/>
        </p:nvGraphicFramePr>
        <p:xfrm>
          <a:off x="777240" y="2103120"/>
          <a:ext cx="10634472" cy="2743200"/>
        </p:xfrm>
        <a:graphic>
          <a:graphicData uri="http://schemas.openxmlformats.org/drawingml/2006/table">
            <a:tbl>
              <a:tblPr firstRow="1">
                <a:tableStyleId>{5C22544A-7EE6-4342-B048-85BDC9FD1C3A}</a:tableStyleId>
              </a:tblPr>
              <a:tblGrid>
                <a:gridCol w="1051560"/>
                <a:gridCol w="2514600"/>
                <a:gridCol w="4690872"/>
                <a:gridCol w="2377440"/>
              </a:tblGrid>
              <a:tr h="548640">
                <a:tc>
                  <a:txBody>
                    <a:bodyPr wrap="square"/>
                    <a:lstStyle/>
                    <a:p>
                      <a:pPr>
                        <a:lnSpc>
                          <a:spcPct val="110000"/>
                        </a:lnSpc>
                      </a:pPr>
                      <a:r>
                        <a:rPr sz="1050" b="1">
                          <a:solidFill>
                            <a:srgbClr val="FFFFFF"/>
                          </a:solidFill>
                          <a:latin typeface="Segoe UI"/>
                        </a:rPr>
                        <a:t>Server</a:t>
                      </a:r>
                    </a:p>
                  </a:txBody>
                  <a:tcPr marL="100584" marR="100584" marT="45720" marB="45720" anchor="ctr">
                    <a:solidFill>
                      <a:srgbClr val="C41230"/>
                    </a:solidFill>
                  </a:tcPr>
                </a:tc>
                <a:tc>
                  <a:txBody>
                    <a:bodyPr wrap="square"/>
                    <a:lstStyle/>
                    <a:p>
                      <a:pPr>
                        <a:lnSpc>
                          <a:spcPct val="110000"/>
                        </a:lnSpc>
                      </a:pPr>
                      <a:r>
                        <a:rPr sz="1050" b="1">
                          <a:solidFill>
                            <a:srgbClr val="FFFFFF"/>
                          </a:solidFill>
                          <a:latin typeface="Segoe UI"/>
                        </a:rPr>
                        <a:t>Tools it exposes</a:t>
                      </a:r>
                    </a:p>
                  </a:txBody>
                  <a:tcPr marL="100584" marR="100584" marT="45720" marB="45720" anchor="ctr">
                    <a:solidFill>
                      <a:srgbClr val="C41230"/>
                    </a:solidFill>
                  </a:tcPr>
                </a:tc>
                <a:tc>
                  <a:txBody>
                    <a:bodyPr wrap="square"/>
                    <a:lstStyle/>
                    <a:p>
                      <a:pPr>
                        <a:lnSpc>
                          <a:spcPct val="110000"/>
                        </a:lnSpc>
                      </a:pPr>
                      <a:r>
                        <a:rPr sz="1050" b="1">
                          <a:solidFill>
                            <a:srgbClr val="FFFFFF"/>
                          </a:solidFill>
                          <a:latin typeface="Segoe UI"/>
                        </a:rPr>
                        <a:t>What is behind it</a:t>
                      </a:r>
                    </a:p>
                  </a:txBody>
                  <a:tcPr marL="100584" marR="100584" marT="45720" marB="45720" anchor="ctr">
                    <a:solidFill>
                      <a:srgbClr val="C41230"/>
                    </a:solidFill>
                  </a:tcPr>
                </a:tc>
                <a:tc>
                  <a:txBody>
                    <a:bodyPr wrap="square"/>
                    <a:lstStyle/>
                    <a:p>
                      <a:pPr>
                        <a:lnSpc>
                          <a:spcPct val="110000"/>
                        </a:lnSpc>
                      </a:pPr>
                      <a:r>
                        <a:rPr sz="1050" b="1">
                          <a:solidFill>
                            <a:srgbClr val="FFFFFF"/>
                          </a:solidFill>
                          <a:latin typeface="Segoe UI"/>
                        </a:rPr>
                        <a:t>With no API key</a:t>
                      </a:r>
                    </a:p>
                  </a:txBody>
                  <a:tcPr marL="100584" marR="100584" marT="45720" marB="45720" anchor="ctr">
                    <a:solidFill>
                      <a:srgbClr val="C41230"/>
                    </a:solidFill>
                  </a:tcPr>
                </a:tc>
              </a:tr>
              <a:tr h="548640">
                <a:tc>
                  <a:txBody>
                    <a:bodyPr wrap="square"/>
                    <a:lstStyle/>
                    <a:p>
                      <a:pPr>
                        <a:lnSpc>
                          <a:spcPct val="110000"/>
                        </a:lnSpc>
                      </a:pPr>
                      <a:r>
                        <a:rPr sz="1000" b="1">
                          <a:solidFill>
                            <a:srgbClr val="1C222E"/>
                          </a:solidFill>
                          <a:latin typeface="Segoe UI"/>
                        </a:rPr>
                        <a:t>search</a:t>
                      </a:r>
                    </a:p>
                  </a:txBody>
                  <a:tcPr marL="100584" marR="100584" marT="45720" marB="45720" anchor="ctr">
                    <a:solidFill>
                      <a:srgbClr val="FFFFFF"/>
                    </a:solidFill>
                  </a:tcPr>
                </a:tc>
                <a:tc>
                  <a:txBody>
                    <a:bodyPr wrap="square"/>
                    <a:lstStyle/>
                    <a:p>
                      <a:pPr>
                        <a:lnSpc>
                          <a:spcPct val="110000"/>
                        </a:lnSpc>
                      </a:pPr>
                      <a:r>
                        <a:rPr sz="1000" b="0">
                          <a:solidFill>
                            <a:srgbClr val="1C222E"/>
                          </a:solidFill>
                          <a:latin typeface="Segoe UI"/>
                        </a:rPr>
                        <a:t>search_restaurants</a:t>
                      </a:r>
                    </a:p>
                  </a:txBody>
                  <a:tcPr marL="100584" marR="100584" marT="45720" marB="45720" anchor="ctr">
                    <a:solidFill>
                      <a:srgbClr val="FFFFFF"/>
                    </a:solidFill>
                  </a:tcPr>
                </a:tc>
                <a:tc>
                  <a:txBody>
                    <a:bodyPr wrap="square"/>
                    <a:lstStyle/>
                    <a:p>
                      <a:pPr>
                        <a:lnSpc>
                          <a:spcPct val="110000"/>
                        </a:lnSpc>
                      </a:pPr>
                      <a:r>
                        <a:rPr sz="1000" b="0">
                          <a:solidFill>
                            <a:srgbClr val="1C222E"/>
                          </a:solidFill>
                          <a:latin typeface="Segoe UI"/>
                        </a:rPr>
                        <a:t>Google Places API (New): a places:searchText call with a field mask, so only the fields I actually use are billed</a:t>
                      </a:r>
                    </a:p>
                  </a:txBody>
                  <a:tcPr marL="100584" marR="100584" marT="45720" marB="45720" anchor="ctr">
                    <a:solidFill>
                      <a:srgbClr val="FFFFFF"/>
                    </a:solidFill>
                  </a:tcPr>
                </a:tc>
                <a:tc>
                  <a:txBody>
                    <a:bodyPr wrap="square"/>
                    <a:lstStyle/>
                    <a:p>
                      <a:pPr>
                        <a:lnSpc>
                          <a:spcPct val="110000"/>
                        </a:lnSpc>
                      </a:pPr>
                      <a:r>
                        <a:rPr sz="1000" b="0">
                          <a:solidFill>
                            <a:srgbClr val="1C222E"/>
                          </a:solidFill>
                          <a:latin typeface="Segoe UI"/>
                        </a:rPr>
                        <a:t>places_sample.json</a:t>
                      </a:r>
                    </a:p>
                  </a:txBody>
                  <a:tcPr marL="100584" marR="100584" marT="45720" marB="45720" anchor="ctr">
                    <a:solidFill>
                      <a:srgbClr val="FFFFFF"/>
                    </a:solidFill>
                  </a:tcPr>
                </a:tc>
              </a:tr>
              <a:tr h="548640">
                <a:tc>
                  <a:txBody>
                    <a:bodyPr wrap="square"/>
                    <a:lstStyle/>
                    <a:p>
                      <a:pPr>
                        <a:lnSpc>
                          <a:spcPct val="110000"/>
                        </a:lnSpc>
                      </a:pPr>
                      <a:r>
                        <a:rPr sz="1000" b="1">
                          <a:solidFill>
                            <a:srgbClr val="1C222E"/>
                          </a:solidFill>
                          <a:latin typeface="Segoe UI"/>
                        </a:rPr>
                        <a:t>perks</a:t>
                      </a:r>
                    </a:p>
                  </a:txBody>
                  <a:tcPr marL="100584" marR="100584" marT="45720" marB="45720" anchor="ctr">
                    <a:solidFill>
                      <a:srgbClr val="F3F4F6"/>
                    </a:solidFill>
                  </a:tcPr>
                </a:tc>
                <a:tc>
                  <a:txBody>
                    <a:bodyPr wrap="square"/>
                    <a:lstStyle/>
                    <a:p>
                      <a:pPr>
                        <a:lnSpc>
                          <a:spcPct val="110000"/>
                        </a:lnSpc>
                      </a:pPr>
                      <a:r>
                        <a:rPr sz="1000" b="0">
                          <a:solidFill>
                            <a:srgbClr val="1C222E"/>
                          </a:solidFill>
                          <a:latin typeface="Segoe UI"/>
                        </a:rPr>
                        <a:t>find_perks</a:t>
                      </a:r>
                    </a:p>
                  </a:txBody>
                  <a:tcPr marL="100584" marR="100584" marT="45720" marB="45720" anchor="ctr">
                    <a:solidFill>
                      <a:srgbClr val="F3F4F6"/>
                    </a:solidFill>
                  </a:tcPr>
                </a:tc>
                <a:tc>
                  <a:txBody>
                    <a:bodyPr wrap="square"/>
                    <a:lstStyle/>
                    <a:p>
                      <a:pPr>
                        <a:lnSpc>
                          <a:spcPct val="110000"/>
                        </a:lnSpc>
                      </a:pPr>
                      <a:r>
                        <a:rPr sz="1000" b="0">
                          <a:solidFill>
                            <a:srgbClr val="1C222E"/>
                          </a:solidFill>
                          <a:latin typeface="Segoe UI"/>
                        </a:rPr>
                        <a:t>Chroma vector store with all-MiniLM-L6-v2 embeddings run locally; ranked 0.7 on meaning, 0.3 on whether the offer can be used</a:t>
                      </a:r>
                    </a:p>
                  </a:txBody>
                  <a:tcPr marL="100584" marR="100584" marT="45720" marB="45720" anchor="ctr">
                    <a:solidFill>
                      <a:srgbClr val="F3F4F6"/>
                    </a:solidFill>
                  </a:tcPr>
                </a:tc>
                <a:tc>
                  <a:txBody>
                    <a:bodyPr wrap="square"/>
                    <a:lstStyle/>
                    <a:p>
                      <a:pPr>
                        <a:lnSpc>
                          <a:spcPct val="110000"/>
                        </a:lnSpc>
                      </a:pPr>
                      <a:r>
                        <a:rPr sz="1000" b="0">
                          <a:solidFill>
                            <a:srgbClr val="1C222E"/>
                          </a:solidFill>
                          <a:latin typeface="Segoe UI"/>
                        </a:rPr>
                        <a:t>perks_seed.json: 24 offers across 10 restaurants</a:t>
                      </a:r>
                    </a:p>
                  </a:txBody>
                  <a:tcPr marL="100584" marR="100584" marT="45720" marB="45720" anchor="ctr">
                    <a:solidFill>
                      <a:srgbClr val="F3F4F6"/>
                    </a:solidFill>
                  </a:tcPr>
                </a:tc>
              </a:tr>
              <a:tr h="548640">
                <a:tc>
                  <a:txBody>
                    <a:bodyPr wrap="square"/>
                    <a:lstStyle/>
                    <a:p>
                      <a:pPr>
                        <a:lnSpc>
                          <a:spcPct val="110000"/>
                        </a:lnSpc>
                      </a:pPr>
                      <a:r>
                        <a:rPr sz="1000" b="1">
                          <a:solidFill>
                            <a:srgbClr val="1C222E"/>
                          </a:solidFill>
                          <a:latin typeface="Segoe UI"/>
                        </a:rPr>
                        <a:t>web</a:t>
                      </a:r>
                    </a:p>
                  </a:txBody>
                  <a:tcPr marL="100584" marR="100584" marT="45720" marB="45720" anchor="ctr">
                    <a:solidFill>
                      <a:srgbClr val="FFFFFF"/>
                    </a:solidFill>
                  </a:tcPr>
                </a:tc>
                <a:tc>
                  <a:txBody>
                    <a:bodyPr wrap="square"/>
                    <a:lstStyle/>
                    <a:p>
                      <a:pPr>
                        <a:lnSpc>
                          <a:spcPct val="110000"/>
                        </a:lnSpc>
                      </a:pPr>
                      <a:r>
                        <a:rPr sz="1000" b="0">
                          <a:solidFill>
                            <a:srgbClr val="1C222E"/>
                          </a:solidFill>
                          <a:latin typeface="Segoe UI"/>
                        </a:rPr>
                        <a:t>lookup_dining_highlights</a:t>
                      </a:r>
                    </a:p>
                  </a:txBody>
                  <a:tcPr marL="100584" marR="100584" marT="45720" marB="45720" anchor="ctr">
                    <a:solidFill>
                      <a:srgbClr val="FFFFFF"/>
                    </a:solidFill>
                  </a:tcPr>
                </a:tc>
                <a:tc>
                  <a:txBody>
                    <a:bodyPr wrap="square"/>
                    <a:lstStyle/>
                    <a:p>
                      <a:pPr>
                        <a:lnSpc>
                          <a:spcPct val="110000"/>
                        </a:lnSpc>
                      </a:pPr>
                      <a:r>
                        <a:rPr sz="1000" b="0">
                          <a:solidFill>
                            <a:srgbClr val="1C222E"/>
                          </a:solidFill>
                          <a:latin typeface="Segoe UI"/>
                        </a:rPr>
                        <a:t>Tavily Search API, basic depth, top three results, and only for a restaurant already on screen</a:t>
                      </a:r>
                    </a:p>
                  </a:txBody>
                  <a:tcPr marL="100584" marR="100584" marT="45720" marB="45720" anchor="ctr">
                    <a:solidFill>
                      <a:srgbClr val="FFFFFF"/>
                    </a:solidFill>
                  </a:tcPr>
                </a:tc>
                <a:tc>
                  <a:txBody>
                    <a:bodyPr wrap="square"/>
                    <a:lstStyle/>
                    <a:p>
                      <a:pPr>
                        <a:lnSpc>
                          <a:spcPct val="110000"/>
                        </a:lnSpc>
                      </a:pPr>
                      <a:r>
                        <a:rPr sz="1000" b="0">
                          <a:solidFill>
                            <a:srgbClr val="1C222E"/>
                          </a:solidFill>
                          <a:latin typeface="Segoe UI"/>
                        </a:rPr>
                        <a:t>web_highlights_sample.json</a:t>
                      </a:r>
                    </a:p>
                  </a:txBody>
                  <a:tcPr marL="100584" marR="100584" marT="45720" marB="45720" anchor="ctr">
                    <a:solidFill>
                      <a:srgbClr val="FFFFFF"/>
                    </a:solidFill>
                  </a:tcPr>
                </a:tc>
              </a:tr>
              <a:tr h="548640">
                <a:tc>
                  <a:txBody>
                    <a:bodyPr wrap="square"/>
                    <a:lstStyle/>
                    <a:p>
                      <a:pPr>
                        <a:lnSpc>
                          <a:spcPct val="110000"/>
                        </a:lnSpc>
                      </a:pPr>
                      <a:r>
                        <a:rPr sz="1000" b="1">
                          <a:solidFill>
                            <a:srgbClr val="1C222E"/>
                          </a:solidFill>
                          <a:latin typeface="Segoe UI"/>
                        </a:rPr>
                        <a:t>booking</a:t>
                      </a:r>
                    </a:p>
                  </a:txBody>
                  <a:tcPr marL="100584" marR="100584" marT="45720" marB="45720" anchor="ctr">
                    <a:solidFill>
                      <a:srgbClr val="F3F4F6"/>
                    </a:solidFill>
                  </a:tcPr>
                </a:tc>
                <a:tc>
                  <a:txBody>
                    <a:bodyPr wrap="square"/>
                    <a:lstStyle/>
                    <a:p>
                      <a:pPr>
                        <a:lnSpc>
                          <a:spcPct val="110000"/>
                        </a:lnSpc>
                      </a:pPr>
                      <a:r>
                        <a:rPr sz="1000" b="0">
                          <a:solidFill>
                            <a:srgbClr val="1C222E"/>
                          </a:solidFill>
                          <a:latin typeface="Segoe UI"/>
                        </a:rPr>
                        <a:t>check_availability, create_booking,
get_booking, cancel_booking</a:t>
                      </a:r>
                    </a:p>
                  </a:txBody>
                  <a:tcPr marL="100584" marR="100584" marT="45720" marB="45720" anchor="ctr">
                    <a:solidFill>
                      <a:srgbClr val="F3F4F6"/>
                    </a:solidFill>
                  </a:tcPr>
                </a:tc>
                <a:tc>
                  <a:txBody>
                    <a:bodyPr wrap="square"/>
                    <a:lstStyle/>
                    <a:p>
                      <a:pPr>
                        <a:lnSpc>
                          <a:spcPct val="110000"/>
                        </a:lnSpc>
                      </a:pPr>
                      <a:r>
                        <a:rPr sz="1000" b="0">
                          <a:solidFill>
                            <a:srgbClr val="1C222E"/>
                          </a:solidFill>
                          <a:latin typeface="Segoe UI"/>
                        </a:rPr>
                        <a:t>A FastAPI service with a SQLite ledger, written for this project. It owns the 24 hour cancellation rule</a:t>
                      </a:r>
                    </a:p>
                  </a:txBody>
                  <a:tcPr marL="100584" marR="100584" marT="45720" marB="45720" anchor="ctr">
                    <a:solidFill>
                      <a:srgbClr val="F3F4F6"/>
                    </a:solidFill>
                  </a:tcPr>
                </a:tc>
                <a:tc>
                  <a:txBody>
                    <a:bodyPr wrap="square"/>
                    <a:lstStyle/>
                    <a:p>
                      <a:pPr>
                        <a:lnSpc>
                          <a:spcPct val="110000"/>
                        </a:lnSpc>
                      </a:pPr>
                      <a:r>
                        <a:rPr sz="1000" b="0">
                          <a:solidFill>
                            <a:srgbClr val="1C222E"/>
                          </a:solidFill>
                          <a:latin typeface="Segoe UI"/>
                        </a:rPr>
                        <a:t>runs locally, so it never needed one</a:t>
                      </a:r>
                    </a:p>
                  </a:txBody>
                  <a:tcPr marL="100584" marR="100584" marT="45720" marB="45720" anchor="ctr">
                    <a:solidFill>
                      <a:srgbClr val="F3F4F6"/>
                    </a:solidFill>
                  </a:tcPr>
                </a:tc>
              </a:tr>
            </a:tbl>
          </a:graphicData>
        </a:graphic>
      </p:graphicFrame>
      <p:sp>
        <p:nvSpPr>
          <p:cNvPr id="10" name="TextBox 9"/>
          <p:cNvSpPr txBox="1"/>
          <p:nvPr/>
        </p:nvSpPr>
        <p:spPr>
          <a:xfrm>
            <a:off x="777240" y="4974336"/>
            <a:ext cx="10637215" cy="256032"/>
          </a:xfrm>
          <a:prstGeom prst="rect">
            <a:avLst/>
          </a:prstGeom>
          <a:noFill/>
        </p:spPr>
        <p:txBody>
          <a:bodyPr wrap="square" lIns="0" rIns="0" tIns="0" bIns="0" anchor="t">
            <a:spAutoFit/>
          </a:bodyPr>
          <a:lstStyle/>
          <a:p>
            <a:pPr algn="l">
              <a:lnSpc>
                <a:spcPct val="100000"/>
              </a:lnSpc>
            </a:pPr>
            <a:r>
              <a:rPr sz="1000" b="1">
                <a:solidFill>
                  <a:srgbClr val="C41230"/>
                </a:solidFill>
                <a:latin typeface="Segoe UI"/>
              </a:rPr>
              <a:t>AND AROUND THEM</a:t>
            </a:r>
          </a:p>
        </p:txBody>
      </p:sp>
      <p:sp>
        <p:nvSpPr>
          <p:cNvPr id="11" name="Rectangle 10"/>
          <p:cNvSpPr/>
          <p:nvPr/>
        </p:nvSpPr>
        <p:spPr>
          <a:xfrm>
            <a:off x="777240" y="5248656"/>
            <a:ext cx="2450592" cy="987552"/>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5330952"/>
            <a:ext cx="2157984" cy="237744"/>
          </a:xfrm>
          <a:prstGeom prst="rect">
            <a:avLst/>
          </a:prstGeom>
          <a:noFill/>
        </p:spPr>
        <p:txBody>
          <a:bodyPr wrap="square" lIns="0" rIns="0" tIns="0" bIns="0" anchor="t">
            <a:spAutoFit/>
          </a:bodyPr>
          <a:lstStyle/>
          <a:p>
            <a:pPr algn="l">
              <a:lnSpc>
                <a:spcPct val="100000"/>
              </a:lnSpc>
            </a:pPr>
            <a:r>
              <a:rPr sz="1100" b="1">
                <a:solidFill>
                  <a:srgbClr val="C41230"/>
                </a:solidFill>
                <a:latin typeface="Segoe UI"/>
              </a:rPr>
              <a:t>Orchestration</a:t>
            </a:r>
          </a:p>
        </p:txBody>
      </p:sp>
      <p:sp>
        <p:nvSpPr>
          <p:cNvPr id="13" name="TextBox 12"/>
          <p:cNvSpPr txBox="1"/>
          <p:nvPr/>
        </p:nvSpPr>
        <p:spPr>
          <a:xfrm>
            <a:off x="923544" y="5550408"/>
            <a:ext cx="2157984" cy="603504"/>
          </a:xfrm>
          <a:prstGeom prst="rect">
            <a:avLst/>
          </a:prstGeom>
          <a:noFill/>
        </p:spPr>
        <p:txBody>
          <a:bodyPr wrap="square" lIns="0" rIns="0" tIns="0" bIns="0" anchor="t">
            <a:spAutoFit/>
          </a:bodyPr>
          <a:lstStyle/>
          <a:p>
            <a:pPr algn="l">
              <a:lnSpc>
                <a:spcPct val="115000"/>
              </a:lnSpc>
            </a:pPr>
            <a:r>
              <a:rPr sz="850" b="0">
                <a:solidFill>
                  <a:srgbClr val="535C6B"/>
                </a:solidFill>
                <a:latin typeface="Segoe UI"/>
              </a:rPr>
              <a:t>LangGraph with a checkpointer.
The checkpoint is what lets the
run pause at the approval step</a:t>
            </a:r>
          </a:p>
        </p:txBody>
      </p:sp>
      <p:sp>
        <p:nvSpPr>
          <p:cNvPr id="14" name="Rectangle 13"/>
          <p:cNvSpPr/>
          <p:nvPr/>
        </p:nvSpPr>
        <p:spPr>
          <a:xfrm>
            <a:off x="3465576" y="5248656"/>
            <a:ext cx="2450592" cy="987552"/>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5330952"/>
            <a:ext cx="2157984" cy="237744"/>
          </a:xfrm>
          <a:prstGeom prst="rect">
            <a:avLst/>
          </a:prstGeom>
          <a:noFill/>
        </p:spPr>
        <p:txBody>
          <a:bodyPr wrap="square" lIns="0" rIns="0" tIns="0" bIns="0" anchor="t">
            <a:spAutoFit/>
          </a:bodyPr>
          <a:lstStyle/>
          <a:p>
            <a:pPr algn="l">
              <a:lnSpc>
                <a:spcPct val="100000"/>
              </a:lnSpc>
            </a:pPr>
            <a:r>
              <a:rPr sz="1100" b="1">
                <a:solidFill>
                  <a:srgbClr val="C41230"/>
                </a:solidFill>
                <a:latin typeface="Segoe UI"/>
              </a:rPr>
              <a:t>Memory</a:t>
            </a:r>
          </a:p>
        </p:txBody>
      </p:sp>
      <p:sp>
        <p:nvSpPr>
          <p:cNvPr id="16" name="TextBox 15"/>
          <p:cNvSpPr txBox="1"/>
          <p:nvPr/>
        </p:nvSpPr>
        <p:spPr>
          <a:xfrm>
            <a:off x="3611880" y="5550408"/>
            <a:ext cx="2157984" cy="603504"/>
          </a:xfrm>
          <a:prstGeom prst="rect">
            <a:avLst/>
          </a:prstGeom>
          <a:noFill/>
        </p:spPr>
        <p:txBody>
          <a:bodyPr wrap="square" lIns="0" rIns="0" tIns="0" bIns="0" anchor="t">
            <a:spAutoFit/>
          </a:bodyPr>
          <a:lstStyle/>
          <a:p>
            <a:pPr algn="l">
              <a:lnSpc>
                <a:spcPct val="115000"/>
              </a:lnSpc>
            </a:pPr>
            <a:r>
              <a:rPr sz="850" b="0">
                <a:solidFill>
                  <a:srgbClr val="535C6B"/>
                </a:solidFill>
                <a:latin typeface="Segoe UI"/>
              </a:rPr>
              <a:t>Chroma again, keyed by email:
standing preferences and past
bookings, kept between visits</a:t>
            </a:r>
          </a:p>
        </p:txBody>
      </p:sp>
      <p:sp>
        <p:nvSpPr>
          <p:cNvPr id="17" name="Rectangle 16"/>
          <p:cNvSpPr/>
          <p:nvPr/>
        </p:nvSpPr>
        <p:spPr>
          <a:xfrm>
            <a:off x="6153912" y="5248656"/>
            <a:ext cx="2450592" cy="987552"/>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0216" y="5330952"/>
            <a:ext cx="2157984" cy="237744"/>
          </a:xfrm>
          <a:prstGeom prst="rect">
            <a:avLst/>
          </a:prstGeom>
          <a:noFill/>
        </p:spPr>
        <p:txBody>
          <a:bodyPr wrap="square" lIns="0" rIns="0" tIns="0" bIns="0" anchor="t">
            <a:spAutoFit/>
          </a:bodyPr>
          <a:lstStyle/>
          <a:p>
            <a:pPr algn="l">
              <a:lnSpc>
                <a:spcPct val="100000"/>
              </a:lnSpc>
            </a:pPr>
            <a:r>
              <a:rPr sz="1100" b="1">
                <a:solidFill>
                  <a:srgbClr val="C41230"/>
                </a:solidFill>
                <a:latin typeface="Segoe UI"/>
              </a:rPr>
              <a:t>Model</a:t>
            </a:r>
          </a:p>
        </p:txBody>
      </p:sp>
      <p:sp>
        <p:nvSpPr>
          <p:cNvPr id="19" name="TextBox 18"/>
          <p:cNvSpPr txBox="1"/>
          <p:nvPr/>
        </p:nvSpPr>
        <p:spPr>
          <a:xfrm>
            <a:off x="6300216" y="5550408"/>
            <a:ext cx="2157984" cy="603504"/>
          </a:xfrm>
          <a:prstGeom prst="rect">
            <a:avLst/>
          </a:prstGeom>
          <a:noFill/>
        </p:spPr>
        <p:txBody>
          <a:bodyPr wrap="square" lIns="0" rIns="0" tIns="0" bIns="0" anchor="t">
            <a:spAutoFit/>
          </a:bodyPr>
          <a:lstStyle/>
          <a:p>
            <a:pPr algn="l">
              <a:lnSpc>
                <a:spcPct val="115000"/>
              </a:lnSpc>
            </a:pPr>
            <a:r>
              <a:rPr sz="850" b="0">
                <a:solidFill>
                  <a:srgbClr val="535C6B"/>
                </a:solidFill>
                <a:latin typeface="Segoe UI"/>
              </a:rPr>
              <a:t>gpt-4o-mini via langchain-openai,
OpenRouter optional. Fixed logic
takes over when there is no key</a:t>
            </a:r>
          </a:p>
        </p:txBody>
      </p:sp>
      <p:sp>
        <p:nvSpPr>
          <p:cNvPr id="20" name="Rectangle 19"/>
          <p:cNvSpPr/>
          <p:nvPr/>
        </p:nvSpPr>
        <p:spPr>
          <a:xfrm>
            <a:off x="8842248" y="5248656"/>
            <a:ext cx="2450592" cy="987552"/>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8552" y="5330952"/>
            <a:ext cx="2157984" cy="237744"/>
          </a:xfrm>
          <a:prstGeom prst="rect">
            <a:avLst/>
          </a:prstGeom>
          <a:noFill/>
        </p:spPr>
        <p:txBody>
          <a:bodyPr wrap="square" lIns="0" rIns="0" tIns="0" bIns="0" anchor="t">
            <a:spAutoFit/>
          </a:bodyPr>
          <a:lstStyle/>
          <a:p>
            <a:pPr algn="l">
              <a:lnSpc>
                <a:spcPct val="100000"/>
              </a:lnSpc>
            </a:pPr>
            <a:r>
              <a:rPr sz="1100" b="1">
                <a:solidFill>
                  <a:srgbClr val="C41230"/>
                </a:solidFill>
                <a:latin typeface="Segoe UI"/>
              </a:rPr>
              <a:t>Project</a:t>
            </a:r>
          </a:p>
        </p:txBody>
      </p:sp>
      <p:sp>
        <p:nvSpPr>
          <p:cNvPr id="22" name="TextBox 21"/>
          <p:cNvSpPr txBox="1"/>
          <p:nvPr/>
        </p:nvSpPr>
        <p:spPr>
          <a:xfrm>
            <a:off x="8988552" y="5550408"/>
            <a:ext cx="2157984" cy="603504"/>
          </a:xfrm>
          <a:prstGeom prst="rect">
            <a:avLst/>
          </a:prstGeom>
          <a:noFill/>
        </p:spPr>
        <p:txBody>
          <a:bodyPr wrap="square" lIns="0" rIns="0" tIns="0" bIns="0" anchor="t">
            <a:spAutoFit/>
          </a:bodyPr>
          <a:lstStyle/>
          <a:p>
            <a:pPr algn="l">
              <a:lnSpc>
                <a:spcPct val="115000"/>
              </a:lnSpc>
            </a:pPr>
            <a:r>
              <a:rPr sz="850" b="0">
                <a:solidFill>
                  <a:srgbClr val="535C6B"/>
                </a:solidFill>
                <a:latin typeface="Segoe UI"/>
              </a:rPr>
              <a:t>Python 3.12, uv, pytest, src layout.
Streamlit, a terminal chat and
LangGraph Studio on top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7. EVALUATION AND RESULTS</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How I tested it</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10</a:t>
            </a:r>
          </a:p>
        </p:txBody>
      </p:sp>
      <p:sp>
        <p:nvSpPr>
          <p:cNvPr id="7" name="Rectangle 6"/>
          <p:cNvSpPr/>
          <p:nvPr/>
        </p:nvSpPr>
        <p:spPr>
          <a:xfrm>
            <a:off x="777240" y="1783080"/>
            <a:ext cx="2487168" cy="1024128"/>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56231"/>
            <a:ext cx="2487168" cy="402336"/>
          </a:xfrm>
          <a:prstGeom prst="rect">
            <a:avLst/>
          </a:prstGeom>
          <a:noFill/>
        </p:spPr>
        <p:txBody>
          <a:bodyPr wrap="square" lIns="0" rIns="0" tIns="0" bIns="0" anchor="t">
            <a:spAutoFit/>
          </a:bodyPr>
          <a:lstStyle/>
          <a:p>
            <a:pPr algn="ctr">
              <a:lnSpc>
                <a:spcPct val="100000"/>
              </a:lnSpc>
            </a:pPr>
            <a:r>
              <a:rPr sz="2400" b="1">
                <a:solidFill>
                  <a:srgbClr val="C41230"/>
                </a:solidFill>
                <a:latin typeface="Georgia"/>
              </a:rPr>
              <a:t>10 of 10</a:t>
            </a:r>
          </a:p>
        </p:txBody>
      </p:sp>
      <p:sp>
        <p:nvSpPr>
          <p:cNvPr id="9" name="TextBox 8"/>
          <p:cNvSpPr txBox="1"/>
          <p:nvPr/>
        </p:nvSpPr>
        <p:spPr>
          <a:xfrm>
            <a:off x="777240" y="2240280"/>
            <a:ext cx="2487168" cy="237744"/>
          </a:xfrm>
          <a:prstGeom prst="rect">
            <a:avLst/>
          </a:prstGeom>
          <a:noFill/>
        </p:spPr>
        <p:txBody>
          <a:bodyPr wrap="square" lIns="0" rIns="0" tIns="0" bIns="0" anchor="t">
            <a:spAutoFit/>
          </a:bodyPr>
          <a:lstStyle/>
          <a:p>
            <a:pPr algn="ctr">
              <a:lnSpc>
                <a:spcPct val="100000"/>
              </a:lnSpc>
            </a:pPr>
            <a:r>
              <a:rPr sz="1050" b="1">
                <a:solidFill>
                  <a:srgbClr val="1C222E"/>
                </a:solidFill>
                <a:latin typeface="Segoe UI"/>
              </a:rPr>
              <a:t>requests</a:t>
            </a:r>
          </a:p>
        </p:txBody>
      </p:sp>
      <p:sp>
        <p:nvSpPr>
          <p:cNvPr id="10" name="TextBox 9"/>
          <p:cNvSpPr txBox="1"/>
          <p:nvPr/>
        </p:nvSpPr>
        <p:spPr>
          <a:xfrm>
            <a:off x="777240" y="2450592"/>
            <a:ext cx="2487168" cy="365760"/>
          </a:xfrm>
          <a:prstGeom prst="rect">
            <a:avLst/>
          </a:prstGeom>
          <a:noFill/>
        </p:spPr>
        <p:txBody>
          <a:bodyPr wrap="square" lIns="0" rIns="0" tIns="0" bIns="0" anchor="t">
            <a:spAutoFit/>
          </a:bodyPr>
          <a:lstStyle/>
          <a:p>
            <a:pPr algn="ctr">
              <a:lnSpc>
                <a:spcPct val="115000"/>
              </a:lnSpc>
            </a:pPr>
            <a:r>
              <a:rPr sz="850" b="0">
                <a:solidFill>
                  <a:srgbClr val="535C6B"/>
                </a:solidFill>
                <a:latin typeface="Segoe UI"/>
              </a:rPr>
              <a:t>the right restaurant came back
first: mean reciprocal rank 1.0</a:t>
            </a:r>
          </a:p>
        </p:txBody>
      </p:sp>
      <p:sp>
        <p:nvSpPr>
          <p:cNvPr id="11" name="Rectangle 10"/>
          <p:cNvSpPr/>
          <p:nvPr/>
        </p:nvSpPr>
        <p:spPr>
          <a:xfrm>
            <a:off x="3502152" y="1783080"/>
            <a:ext cx="2487168" cy="1024128"/>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02152" y="1856231"/>
            <a:ext cx="2487168" cy="402336"/>
          </a:xfrm>
          <a:prstGeom prst="rect">
            <a:avLst/>
          </a:prstGeom>
          <a:noFill/>
        </p:spPr>
        <p:txBody>
          <a:bodyPr wrap="square" lIns="0" rIns="0" tIns="0" bIns="0" anchor="t">
            <a:spAutoFit/>
          </a:bodyPr>
          <a:lstStyle/>
          <a:p>
            <a:pPr algn="ctr">
              <a:lnSpc>
                <a:spcPct val="100000"/>
              </a:lnSpc>
            </a:pPr>
            <a:r>
              <a:rPr sz="2400" b="1">
                <a:solidFill>
                  <a:srgbClr val="C41230"/>
                </a:solidFill>
                <a:latin typeface="Georgia"/>
              </a:rPr>
              <a:t>233</a:t>
            </a:r>
          </a:p>
        </p:txBody>
      </p:sp>
      <p:sp>
        <p:nvSpPr>
          <p:cNvPr id="13" name="TextBox 12"/>
          <p:cNvSpPr txBox="1"/>
          <p:nvPr/>
        </p:nvSpPr>
        <p:spPr>
          <a:xfrm>
            <a:off x="3502152" y="2240280"/>
            <a:ext cx="2487168" cy="237744"/>
          </a:xfrm>
          <a:prstGeom prst="rect">
            <a:avLst/>
          </a:prstGeom>
          <a:noFill/>
        </p:spPr>
        <p:txBody>
          <a:bodyPr wrap="square" lIns="0" rIns="0" tIns="0" bIns="0" anchor="t">
            <a:spAutoFit/>
          </a:bodyPr>
          <a:lstStyle/>
          <a:p>
            <a:pPr algn="ctr">
              <a:lnSpc>
                <a:spcPct val="100000"/>
              </a:lnSpc>
            </a:pPr>
            <a:r>
              <a:rPr sz="1050" b="1">
                <a:solidFill>
                  <a:srgbClr val="1C222E"/>
                </a:solidFill>
                <a:latin typeface="Segoe UI"/>
              </a:rPr>
              <a:t>tests passing</a:t>
            </a:r>
          </a:p>
        </p:txBody>
      </p:sp>
      <p:sp>
        <p:nvSpPr>
          <p:cNvPr id="14" name="TextBox 13"/>
          <p:cNvSpPr txBox="1"/>
          <p:nvPr/>
        </p:nvSpPr>
        <p:spPr>
          <a:xfrm>
            <a:off x="3502152" y="2450592"/>
            <a:ext cx="2487168" cy="365760"/>
          </a:xfrm>
          <a:prstGeom prst="rect">
            <a:avLst/>
          </a:prstGeom>
          <a:noFill/>
        </p:spPr>
        <p:txBody>
          <a:bodyPr wrap="square" lIns="0" rIns="0" tIns="0" bIns="0" anchor="t">
            <a:spAutoFit/>
          </a:bodyPr>
          <a:lstStyle/>
          <a:p>
            <a:pPr algn="ctr">
              <a:lnSpc>
                <a:spcPct val="115000"/>
              </a:lnSpc>
            </a:pPr>
            <a:r>
              <a:rPr sz="850" b="0">
                <a:solidFill>
                  <a:srgbClr val="535C6B"/>
                </a:solidFill>
                <a:latin typeface="Segoe UI"/>
              </a:rPr>
              <a:t>with no API key and no network</a:t>
            </a:r>
          </a:p>
        </p:txBody>
      </p:sp>
      <p:sp>
        <p:nvSpPr>
          <p:cNvPr id="15" name="Rectangle 14"/>
          <p:cNvSpPr/>
          <p:nvPr/>
        </p:nvSpPr>
        <p:spPr>
          <a:xfrm>
            <a:off x="6227064" y="1783080"/>
            <a:ext cx="2487168" cy="1024128"/>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27064" y="1856231"/>
            <a:ext cx="2487168" cy="402336"/>
          </a:xfrm>
          <a:prstGeom prst="rect">
            <a:avLst/>
          </a:prstGeom>
          <a:noFill/>
        </p:spPr>
        <p:txBody>
          <a:bodyPr wrap="square" lIns="0" rIns="0" tIns="0" bIns="0" anchor="t">
            <a:spAutoFit/>
          </a:bodyPr>
          <a:lstStyle/>
          <a:p>
            <a:pPr algn="ctr">
              <a:lnSpc>
                <a:spcPct val="100000"/>
              </a:lnSpc>
            </a:pPr>
            <a:r>
              <a:rPr sz="2400" b="1">
                <a:solidFill>
                  <a:srgbClr val="C41230"/>
                </a:solidFill>
                <a:latin typeface="Georgia"/>
              </a:rPr>
              <a:t>2</a:t>
            </a:r>
          </a:p>
        </p:txBody>
      </p:sp>
      <p:sp>
        <p:nvSpPr>
          <p:cNvPr id="17" name="TextBox 16"/>
          <p:cNvSpPr txBox="1"/>
          <p:nvPr/>
        </p:nvSpPr>
        <p:spPr>
          <a:xfrm>
            <a:off x="6227064" y="2240280"/>
            <a:ext cx="2487168" cy="237744"/>
          </a:xfrm>
          <a:prstGeom prst="rect">
            <a:avLst/>
          </a:prstGeom>
          <a:noFill/>
        </p:spPr>
        <p:txBody>
          <a:bodyPr wrap="square" lIns="0" rIns="0" tIns="0" bIns="0" anchor="t">
            <a:spAutoFit/>
          </a:bodyPr>
          <a:lstStyle/>
          <a:p>
            <a:pPr algn="ctr">
              <a:lnSpc>
                <a:spcPct val="100000"/>
              </a:lnSpc>
            </a:pPr>
            <a:r>
              <a:rPr sz="1050" b="1">
                <a:solidFill>
                  <a:srgbClr val="1C222E"/>
                </a:solidFill>
                <a:latin typeface="Segoe UI"/>
              </a:rPr>
              <a:t>model calls</a:t>
            </a:r>
          </a:p>
        </p:txBody>
      </p:sp>
      <p:sp>
        <p:nvSpPr>
          <p:cNvPr id="18" name="TextBox 17"/>
          <p:cNvSpPr txBox="1"/>
          <p:nvPr/>
        </p:nvSpPr>
        <p:spPr>
          <a:xfrm>
            <a:off x="6227064" y="2450592"/>
            <a:ext cx="2487168" cy="365760"/>
          </a:xfrm>
          <a:prstGeom prst="rect">
            <a:avLst/>
          </a:prstGeom>
          <a:noFill/>
        </p:spPr>
        <p:txBody>
          <a:bodyPr wrap="square" lIns="0" rIns="0" tIns="0" bIns="0" anchor="t">
            <a:spAutoFit/>
          </a:bodyPr>
          <a:lstStyle/>
          <a:p>
            <a:pPr algn="ctr">
              <a:lnSpc>
                <a:spcPct val="115000"/>
              </a:lnSpc>
            </a:pPr>
            <a:r>
              <a:rPr sz="850" b="0">
                <a:solidFill>
                  <a:srgbClr val="535C6B"/>
                </a:solidFill>
                <a:latin typeface="Segoe UI"/>
              </a:rPr>
              <a:t>per turn, and six tool steps</a:t>
            </a:r>
          </a:p>
        </p:txBody>
      </p:sp>
      <p:sp>
        <p:nvSpPr>
          <p:cNvPr id="19" name="Rectangle 18"/>
          <p:cNvSpPr/>
          <p:nvPr/>
        </p:nvSpPr>
        <p:spPr>
          <a:xfrm>
            <a:off x="8951976" y="1783080"/>
            <a:ext cx="2487168" cy="1024128"/>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51976" y="1856231"/>
            <a:ext cx="2487168" cy="402336"/>
          </a:xfrm>
          <a:prstGeom prst="rect">
            <a:avLst/>
          </a:prstGeom>
          <a:noFill/>
        </p:spPr>
        <p:txBody>
          <a:bodyPr wrap="square" lIns="0" rIns="0" tIns="0" bIns="0" anchor="t">
            <a:spAutoFit/>
          </a:bodyPr>
          <a:lstStyle/>
          <a:p>
            <a:pPr algn="ctr">
              <a:lnSpc>
                <a:spcPct val="100000"/>
              </a:lnSpc>
            </a:pPr>
            <a:r>
              <a:rPr sz="2400" b="1">
                <a:solidFill>
                  <a:srgbClr val="C41230"/>
                </a:solidFill>
                <a:latin typeface="Georgia"/>
              </a:rPr>
              <a:t>45 sec</a:t>
            </a:r>
          </a:p>
        </p:txBody>
      </p:sp>
      <p:sp>
        <p:nvSpPr>
          <p:cNvPr id="21" name="TextBox 20"/>
          <p:cNvSpPr txBox="1"/>
          <p:nvPr/>
        </p:nvSpPr>
        <p:spPr>
          <a:xfrm>
            <a:off x="8951976" y="2240280"/>
            <a:ext cx="2487168" cy="237744"/>
          </a:xfrm>
          <a:prstGeom prst="rect">
            <a:avLst/>
          </a:prstGeom>
          <a:noFill/>
        </p:spPr>
        <p:txBody>
          <a:bodyPr wrap="square" lIns="0" rIns="0" tIns="0" bIns="0" anchor="t">
            <a:spAutoFit/>
          </a:bodyPr>
          <a:lstStyle/>
          <a:p>
            <a:pPr algn="ctr">
              <a:lnSpc>
                <a:spcPct val="100000"/>
              </a:lnSpc>
            </a:pPr>
            <a:r>
              <a:rPr sz="1050" b="1">
                <a:solidFill>
                  <a:srgbClr val="1C222E"/>
                </a:solidFill>
                <a:latin typeface="Segoe UI"/>
              </a:rPr>
              <a:t>to run it all</a:t>
            </a:r>
          </a:p>
        </p:txBody>
      </p:sp>
      <p:sp>
        <p:nvSpPr>
          <p:cNvPr id="22" name="TextBox 21"/>
          <p:cNvSpPr txBox="1"/>
          <p:nvPr/>
        </p:nvSpPr>
        <p:spPr>
          <a:xfrm>
            <a:off x="8951976" y="2450592"/>
            <a:ext cx="2487168" cy="365760"/>
          </a:xfrm>
          <a:prstGeom prst="rect">
            <a:avLst/>
          </a:prstGeom>
          <a:noFill/>
        </p:spPr>
        <p:txBody>
          <a:bodyPr wrap="square" lIns="0" rIns="0" tIns="0" bIns="0" anchor="t">
            <a:spAutoFit/>
          </a:bodyPr>
          <a:lstStyle/>
          <a:p>
            <a:pPr algn="ctr">
              <a:lnSpc>
                <a:spcPct val="115000"/>
              </a:lnSpc>
            </a:pPr>
            <a:r>
              <a:rPr sz="850" b="0">
                <a:solidFill>
                  <a:srgbClr val="535C6B"/>
                </a:solidFill>
                <a:latin typeface="Segoe UI"/>
              </a:rPr>
              <a:t>so the suite runs on every change</a:t>
            </a:r>
          </a:p>
        </p:txBody>
      </p:sp>
      <p:graphicFrame>
        <p:nvGraphicFramePr>
          <p:cNvPr id="23" name="Table 22"/>
          <p:cNvGraphicFramePr>
            <a:graphicFrameLocks noGrp="1"/>
          </p:cNvGraphicFramePr>
          <p:nvPr/>
        </p:nvGraphicFramePr>
        <p:xfrm>
          <a:off x="777240" y="2971800"/>
          <a:ext cx="10634472" cy="2103120"/>
        </p:xfrm>
        <a:graphic>
          <a:graphicData uri="http://schemas.openxmlformats.org/drawingml/2006/table">
            <a:tbl>
              <a:tblPr firstRow="1">
                <a:tableStyleId>{5C22544A-7EE6-4342-B048-85BDC9FD1C3A}</a:tableStyleId>
              </a:tblPr>
              <a:tblGrid>
                <a:gridCol w="3200400"/>
                <a:gridCol w="3657600"/>
                <a:gridCol w="3776472"/>
              </a:tblGrid>
              <a:tr h="420624">
                <a:tc>
                  <a:txBody>
                    <a:bodyPr wrap="square"/>
                    <a:lstStyle/>
                    <a:p>
                      <a:pPr>
                        <a:lnSpc>
                          <a:spcPct val="110000"/>
                        </a:lnSpc>
                      </a:pPr>
                      <a:r>
                        <a:rPr sz="1100" b="1">
                          <a:solidFill>
                            <a:srgbClr val="FFFFFF"/>
                          </a:solidFill>
                          <a:latin typeface="Segoe UI"/>
                        </a:rPr>
                        <a:t>What I checked</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How</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Result</a:t>
                      </a:r>
                    </a:p>
                  </a:txBody>
                  <a:tcPr marL="100584" marR="100584" marT="45720" marB="45720" anchor="ctr">
                    <a:solidFill>
                      <a:srgbClr val="C41230"/>
                    </a:solidFill>
                  </a:tcPr>
                </a:tc>
              </a:tr>
              <a:tr h="420624">
                <a:tc>
                  <a:txBody>
                    <a:bodyPr wrap="square"/>
                    <a:lstStyle/>
                    <a:p>
                      <a:pPr>
                        <a:lnSpc>
                          <a:spcPct val="110000"/>
                        </a:lnSpc>
                      </a:pPr>
                      <a:r>
                        <a:rPr sz="1100" b="0">
                          <a:solidFill>
                            <a:srgbClr val="1C222E"/>
                          </a:solidFill>
                          <a:latin typeface="Segoe UI"/>
                        </a:rPr>
                        <a:t>Does the shortlist have the right restaurant?</a:t>
                      </a:r>
                    </a:p>
                  </a:txBody>
                  <a:tcPr marL="100584" marR="100584" marT="45720" marB="45720" anchor="ctr">
                    <a:solidFill>
                      <a:srgbClr val="FFFFFF"/>
                    </a:solidFill>
                  </a:tcPr>
                </a:tc>
                <a:tc>
                  <a:txBody>
                    <a:bodyPr wrap="square"/>
                    <a:lstStyle/>
                    <a:p>
                      <a:pPr>
                        <a:lnSpc>
                          <a:spcPct val="110000"/>
                        </a:lnSpc>
                      </a:pPr>
                      <a:r>
                        <a:rPr sz="1100" b="0">
                          <a:solidFill>
                            <a:srgbClr val="1C222E"/>
                          </a:solidFill>
                          <a:latin typeface="Segoe UI"/>
                        </a:rPr>
                        <a:t>Ten labelled requests, with the right answers written down</a:t>
                      </a:r>
                    </a:p>
                  </a:txBody>
                  <a:tcPr marL="100584" marR="100584" marT="45720" marB="45720" anchor="ctr">
                    <a:solidFill>
                      <a:srgbClr val="FFFFFF"/>
                    </a:solidFill>
                  </a:tcPr>
                </a:tc>
                <a:tc>
                  <a:txBody>
                    <a:bodyPr wrap="square"/>
                    <a:lstStyle/>
                    <a:p>
                      <a:pPr>
                        <a:lnSpc>
                          <a:spcPct val="110000"/>
                        </a:lnSpc>
                      </a:pPr>
                      <a:r>
                        <a:rPr sz="1100" b="0">
                          <a:solidFill>
                            <a:srgbClr val="1C222E"/>
                          </a:solidFill>
                          <a:latin typeface="Segoe UI"/>
                        </a:rPr>
                        <a:t>Top three every time, and first every time</a:t>
                      </a:r>
                    </a:p>
                  </a:txBody>
                  <a:tcPr marL="100584" marR="100584" marT="45720" marB="45720" anchor="ctr">
                    <a:solidFill>
                      <a:srgbClr val="FFFFFF"/>
                    </a:solidFill>
                  </a:tcPr>
                </a:tc>
              </a:tr>
              <a:tr h="420624">
                <a:tc>
                  <a:txBody>
                    <a:bodyPr wrap="square"/>
                    <a:lstStyle/>
                    <a:p>
                      <a:pPr>
                        <a:lnSpc>
                          <a:spcPct val="110000"/>
                        </a:lnSpc>
                      </a:pPr>
                      <a:r>
                        <a:rPr sz="1100" b="0">
                          <a:solidFill>
                            <a:srgbClr val="1C222E"/>
                          </a:solidFill>
                          <a:latin typeface="Segoe UI"/>
                        </a:rPr>
                        <a:t>Does it behave the way it should?</a:t>
                      </a:r>
                    </a:p>
                  </a:txBody>
                  <a:tcPr marL="100584" marR="100584" marT="45720" marB="45720" anchor="ctr">
                    <a:solidFill>
                      <a:srgbClr val="F3F4F6"/>
                    </a:solidFill>
                  </a:tcPr>
                </a:tc>
                <a:tc>
                  <a:txBody>
                    <a:bodyPr wrap="square"/>
                    <a:lstStyle/>
                    <a:p>
                      <a:pPr>
                        <a:lnSpc>
                          <a:spcPct val="110000"/>
                        </a:lnSpc>
                      </a:pPr>
                      <a:r>
                        <a:rPr sz="1100" b="0">
                          <a:solidFill>
                            <a:srgbClr val="1C222E"/>
                          </a:solidFill>
                          <a:latin typeface="Segoe UI"/>
                        </a:rPr>
                        <a:t>233 automated tests, one per behaviour</a:t>
                      </a:r>
                    </a:p>
                  </a:txBody>
                  <a:tcPr marL="100584" marR="100584" marT="45720" marB="45720" anchor="ctr">
                    <a:solidFill>
                      <a:srgbClr val="F3F4F6"/>
                    </a:solidFill>
                  </a:tcPr>
                </a:tc>
                <a:tc>
                  <a:txBody>
                    <a:bodyPr wrap="square"/>
                    <a:lstStyle/>
                    <a:p>
                      <a:pPr>
                        <a:lnSpc>
                          <a:spcPct val="110000"/>
                        </a:lnSpc>
                      </a:pPr>
                      <a:r>
                        <a:rPr sz="1100" b="0">
                          <a:solidFill>
                            <a:srgbClr val="1C222E"/>
                          </a:solidFill>
                          <a:latin typeface="Segoe UI"/>
                        </a:rPr>
                        <a:t>All passing, offline, in about 45 seconds</a:t>
                      </a:r>
                    </a:p>
                  </a:txBody>
                  <a:tcPr marL="100584" marR="100584" marT="45720" marB="45720" anchor="ctr">
                    <a:solidFill>
                      <a:srgbClr val="F3F4F6"/>
                    </a:solidFill>
                  </a:tcPr>
                </a:tc>
              </a:tr>
              <a:tr h="420624">
                <a:tc>
                  <a:txBody>
                    <a:bodyPr wrap="square"/>
                    <a:lstStyle/>
                    <a:p>
                      <a:pPr>
                        <a:lnSpc>
                          <a:spcPct val="110000"/>
                        </a:lnSpc>
                      </a:pPr>
                      <a:r>
                        <a:rPr sz="1100" b="0">
                          <a:solidFill>
                            <a:srgbClr val="1C222E"/>
                          </a:solidFill>
                          <a:latin typeface="Segoe UI"/>
                        </a:rPr>
                        <a:t>Does it make things up?</a:t>
                      </a:r>
                    </a:p>
                  </a:txBody>
                  <a:tcPr marL="100584" marR="100584" marT="45720" marB="45720" anchor="ctr">
                    <a:solidFill>
                      <a:srgbClr val="FFFFFF"/>
                    </a:solidFill>
                  </a:tcPr>
                </a:tc>
                <a:tc>
                  <a:txBody>
                    <a:bodyPr wrap="square"/>
                    <a:lstStyle/>
                    <a:p>
                      <a:pPr>
                        <a:lnSpc>
                          <a:spcPct val="110000"/>
                        </a:lnSpc>
                      </a:pPr>
                      <a:r>
                        <a:rPr sz="1100" b="0">
                          <a:solidFill>
                            <a:srgbClr val="1C222E"/>
                          </a:solidFill>
                          <a:latin typeface="Segoe UI"/>
                        </a:rPr>
                        <a:t>Every reply is compared with what the tools returned</a:t>
                      </a:r>
                    </a:p>
                  </a:txBody>
                  <a:tcPr marL="100584" marR="100584" marT="45720" marB="45720" anchor="ctr">
                    <a:solidFill>
                      <a:srgbClr val="FFFFFF"/>
                    </a:solidFill>
                  </a:tcPr>
                </a:tc>
                <a:tc>
                  <a:txBody>
                    <a:bodyPr wrap="square"/>
                    <a:lstStyle/>
                    <a:p>
                      <a:pPr>
                        <a:lnSpc>
                          <a:spcPct val="110000"/>
                        </a:lnSpc>
                      </a:pPr>
                      <a:r>
                        <a:rPr sz="1100" b="0">
                          <a:solidFill>
                            <a:srgbClr val="1C222E"/>
                          </a:solidFill>
                          <a:latin typeface="Segoe UI"/>
                        </a:rPr>
                        <a:t>Invented times, dates and booking numbers are removed</a:t>
                      </a:r>
                    </a:p>
                  </a:txBody>
                  <a:tcPr marL="100584" marR="100584" marT="45720" marB="45720" anchor="ctr">
                    <a:solidFill>
                      <a:srgbClr val="FFFFFF"/>
                    </a:solidFill>
                  </a:tcPr>
                </a:tc>
              </a:tr>
              <a:tr h="420624">
                <a:tc>
                  <a:txBody>
                    <a:bodyPr wrap="square"/>
                    <a:lstStyle/>
                    <a:p>
                      <a:pPr>
                        <a:lnSpc>
                          <a:spcPct val="110000"/>
                        </a:lnSpc>
                      </a:pPr>
                      <a:r>
                        <a:rPr sz="1100" b="0">
                          <a:solidFill>
                            <a:srgbClr val="1C222E"/>
                          </a:solidFill>
                          <a:latin typeface="Segoe UI"/>
                        </a:rPr>
                        <a:t>Does it stay cheap?</a:t>
                      </a:r>
                    </a:p>
                  </a:txBody>
                  <a:tcPr marL="100584" marR="100584" marT="45720" marB="45720" anchor="ctr">
                    <a:solidFill>
                      <a:srgbClr val="F3F4F6"/>
                    </a:solidFill>
                  </a:tcPr>
                </a:tc>
                <a:tc>
                  <a:txBody>
                    <a:bodyPr wrap="square"/>
                    <a:lstStyle/>
                    <a:p>
                      <a:pPr>
                        <a:lnSpc>
                          <a:spcPct val="110000"/>
                        </a:lnSpc>
                      </a:pPr>
                      <a:r>
                        <a:rPr sz="1100" b="0">
                          <a:solidFill>
                            <a:srgbClr val="1C222E"/>
                          </a:solidFill>
                          <a:latin typeface="Segoe UI"/>
                        </a:rPr>
                        <a:t>Count the model calls and tool steps in a turn</a:t>
                      </a:r>
                    </a:p>
                  </a:txBody>
                  <a:tcPr marL="100584" marR="100584" marT="45720" marB="45720" anchor="ctr">
                    <a:solidFill>
                      <a:srgbClr val="F3F4F6"/>
                    </a:solidFill>
                  </a:tcPr>
                </a:tc>
                <a:tc>
                  <a:txBody>
                    <a:bodyPr wrap="square"/>
                    <a:lstStyle/>
                    <a:p>
                      <a:pPr>
                        <a:lnSpc>
                          <a:spcPct val="110000"/>
                        </a:lnSpc>
                      </a:pPr>
                      <a:r>
                        <a:rPr sz="1100" b="0">
                          <a:solidFill>
                            <a:srgbClr val="1C222E"/>
                          </a:solidFill>
                          <a:latin typeface="Segoe UI"/>
                        </a:rPr>
                        <a:t>Two model calls, six tool steps at most</a:t>
                      </a:r>
                    </a:p>
                  </a:txBody>
                  <a:tcPr marL="100584" marR="100584" marT="45720" marB="45720" anchor="ctr">
                    <a:solidFill>
                      <a:srgbClr val="F3F4F6"/>
                    </a:solidFill>
                  </a:tcPr>
                </a:tc>
              </a:tr>
            </a:tbl>
          </a:graphicData>
        </a:graphic>
      </p:graphicFrame>
      <p:sp>
        <p:nvSpPr>
          <p:cNvPr id="24" name="TextBox 23"/>
          <p:cNvSpPr txBox="1"/>
          <p:nvPr/>
        </p:nvSpPr>
        <p:spPr>
          <a:xfrm>
            <a:off x="777240" y="5138928"/>
            <a:ext cx="10637215" cy="256032"/>
          </a:xfrm>
          <a:prstGeom prst="rect">
            <a:avLst/>
          </a:prstGeom>
          <a:noFill/>
        </p:spPr>
        <p:txBody>
          <a:bodyPr wrap="square" lIns="0" rIns="0" tIns="0" bIns="0" anchor="t">
            <a:spAutoFit/>
          </a:bodyPr>
          <a:lstStyle/>
          <a:p>
            <a:pPr algn="l">
              <a:lnSpc>
                <a:spcPct val="100000"/>
              </a:lnSpc>
            </a:pPr>
            <a:r>
              <a:rPr sz="1000" b="1">
                <a:solidFill>
                  <a:srgbClr val="C41230"/>
                </a:solidFill>
                <a:latin typeface="Segoe UI"/>
              </a:rPr>
              <a:t>THE TEST DATA I WROTE</a:t>
            </a:r>
          </a:p>
        </p:txBody>
      </p:sp>
      <p:sp>
        <p:nvSpPr>
          <p:cNvPr id="25" name="Rectangle 24"/>
          <p:cNvSpPr/>
          <p:nvPr/>
        </p:nvSpPr>
        <p:spPr>
          <a:xfrm>
            <a:off x="777240" y="5413248"/>
            <a:ext cx="3310128" cy="859536"/>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5486400"/>
            <a:ext cx="2999232" cy="219456"/>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Ten labelled requests</a:t>
            </a:r>
          </a:p>
        </p:txBody>
      </p:sp>
      <p:sp>
        <p:nvSpPr>
          <p:cNvPr id="27" name="TextBox 26"/>
          <p:cNvSpPr txBox="1"/>
          <p:nvPr/>
        </p:nvSpPr>
        <p:spPr>
          <a:xfrm>
            <a:off x="941832" y="5705856"/>
            <a:ext cx="2999232" cy="530352"/>
          </a:xfrm>
          <a:prstGeom prst="rect">
            <a:avLst/>
          </a:prstGeom>
          <a:noFill/>
        </p:spPr>
        <p:txBody>
          <a:bodyPr wrap="square" lIns="0" rIns="0" tIns="0" bIns="0" anchor="t">
            <a:spAutoFit/>
          </a:bodyPr>
          <a:lstStyle/>
          <a:p>
            <a:pPr algn="l">
              <a:lnSpc>
                <a:spcPct val="115000"/>
              </a:lnSpc>
            </a:pPr>
            <a:r>
              <a:rPr sz="800" b="0">
                <a:solidFill>
                  <a:srgbClr val="535C6B"/>
                </a:solidFill>
                <a:latin typeface="Segoe UI"/>
              </a:rPr>
              <a:t>each with the query, its filters and the
restaurants that count as correct, scored
on a fixed date so expiry never shifts</a:t>
            </a:r>
          </a:p>
        </p:txBody>
      </p:sp>
      <p:sp>
        <p:nvSpPr>
          <p:cNvPr id="28" name="Rectangle 27"/>
          <p:cNvSpPr/>
          <p:nvPr/>
        </p:nvSpPr>
        <p:spPr>
          <a:xfrm>
            <a:off x="4389120" y="5413248"/>
            <a:ext cx="3310128" cy="859536"/>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53712" y="5486400"/>
            <a:ext cx="2999232" cy="219456"/>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Three JSON fixtures</a:t>
            </a:r>
          </a:p>
        </p:txBody>
      </p:sp>
      <p:sp>
        <p:nvSpPr>
          <p:cNvPr id="30" name="TextBox 29"/>
          <p:cNvSpPr txBox="1"/>
          <p:nvPr/>
        </p:nvSpPr>
        <p:spPr>
          <a:xfrm>
            <a:off x="4553712" y="5705856"/>
            <a:ext cx="2999232" cy="530352"/>
          </a:xfrm>
          <a:prstGeom prst="rect">
            <a:avLst/>
          </a:prstGeom>
          <a:noFill/>
        </p:spPr>
        <p:txBody>
          <a:bodyPr wrap="square" lIns="0" rIns="0" tIns="0" bIns="0" anchor="t">
            <a:spAutoFit/>
          </a:bodyPr>
          <a:lstStyle/>
          <a:p>
            <a:pPr algn="l">
              <a:lnSpc>
                <a:spcPct val="115000"/>
              </a:lnSpc>
            </a:pPr>
            <a:r>
              <a:rPr sz="800" b="0">
                <a:solidFill>
                  <a:srgbClr val="535C6B"/>
                </a:solidFill>
                <a:latin typeface="Segoe UI"/>
              </a:rPr>
              <a:t>places_sample, web_highlights_sample and
perks_seed stand in for Places, Tavily and
the offers, so the suite needs no key</a:t>
            </a:r>
          </a:p>
        </p:txBody>
      </p:sp>
      <p:sp>
        <p:nvSpPr>
          <p:cNvPr id="31" name="Rectangle 30"/>
          <p:cNvSpPr/>
          <p:nvPr/>
        </p:nvSpPr>
        <p:spPr>
          <a:xfrm>
            <a:off x="8001000" y="5413248"/>
            <a:ext cx="3310128" cy="859536"/>
          </a:xfrm>
          <a:prstGeom prst="rect">
            <a:avLst/>
          </a:prstGeom>
          <a:solidFill>
            <a:srgbClr val="F3F4F6"/>
          </a:solidFill>
          <a:ln w="12700">
            <a:solidFill>
              <a:srgbClr val="E8EA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65592" y="5486400"/>
            <a:ext cx="2999232" cy="219456"/>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One golden file</a:t>
            </a:r>
          </a:p>
        </p:txBody>
      </p:sp>
      <p:sp>
        <p:nvSpPr>
          <p:cNvPr id="33" name="TextBox 32"/>
          <p:cNvSpPr txBox="1"/>
          <p:nvPr/>
        </p:nvSpPr>
        <p:spPr>
          <a:xfrm>
            <a:off x="8165592" y="5705856"/>
            <a:ext cx="2999232" cy="530352"/>
          </a:xfrm>
          <a:prstGeom prst="rect">
            <a:avLst/>
          </a:prstGeom>
          <a:noFill/>
        </p:spPr>
        <p:txBody>
          <a:bodyPr wrap="square" lIns="0" rIns="0" tIns="0" bIns="0" anchor="t">
            <a:spAutoFit/>
          </a:bodyPr>
          <a:lstStyle/>
          <a:p>
            <a:pPr algn="l">
              <a:lnSpc>
                <a:spcPct val="115000"/>
              </a:lnSpc>
            </a:pPr>
            <a:r>
              <a:rPr sz="800" b="0">
                <a:solidFill>
                  <a:srgbClr val="535C6B"/>
                </a:solidFill>
                <a:latin typeface="Segoe UI"/>
              </a:rPr>
              <a:t>the system prompt, byte for byte. Editing
the prompt fails a test on purpose, so the
change has to be deliberate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8. SAFETY AND RELIABILITY</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Guardrails, and where a person decides</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11</a:t>
            </a:r>
          </a:p>
        </p:txBody>
      </p:sp>
      <p:sp>
        <p:nvSpPr>
          <p:cNvPr id="7" name="TextBox 6"/>
          <p:cNvSpPr txBox="1"/>
          <p:nvPr/>
        </p:nvSpPr>
        <p:spPr>
          <a:xfrm>
            <a:off x="777240" y="1536192"/>
            <a:ext cx="10637215" cy="292608"/>
          </a:xfrm>
          <a:prstGeom prst="rect">
            <a:avLst/>
          </a:prstGeom>
          <a:noFill/>
        </p:spPr>
        <p:txBody>
          <a:bodyPr wrap="square" lIns="0" rIns="0" tIns="0" bIns="0" anchor="t">
            <a:spAutoFit/>
          </a:bodyPr>
          <a:lstStyle/>
          <a:p>
            <a:pPr algn="l">
              <a:lnSpc>
                <a:spcPct val="100000"/>
              </a:lnSpc>
            </a:pPr>
            <a:r>
              <a:rPr sz="1150" b="0">
                <a:solidFill>
                  <a:srgbClr val="535C6B"/>
                </a:solidFill>
                <a:latin typeface="Segoe UI"/>
              </a:rPr>
              <a:t>The rule is simple: the agent can look things up on its own, but anything it cannot undo waits for a person.</a:t>
            </a:r>
          </a:p>
        </p:txBody>
      </p:sp>
      <p:sp>
        <p:nvSpPr>
          <p:cNvPr id="8" name="TextBox 7"/>
          <p:cNvSpPr txBox="1"/>
          <p:nvPr/>
        </p:nvSpPr>
        <p:spPr>
          <a:xfrm>
            <a:off x="777240" y="1965960"/>
            <a:ext cx="5120640" cy="274320"/>
          </a:xfrm>
          <a:prstGeom prst="rect">
            <a:avLst/>
          </a:prstGeom>
          <a:noFill/>
        </p:spPr>
        <p:txBody>
          <a:bodyPr wrap="square" lIns="0" rIns="0" tIns="0" bIns="0" anchor="t">
            <a:spAutoFit/>
          </a:bodyPr>
          <a:lstStyle/>
          <a:p>
            <a:pPr algn="l">
              <a:lnSpc>
                <a:spcPct val="100000"/>
              </a:lnSpc>
            </a:pPr>
            <a:r>
              <a:rPr sz="1000" b="1">
                <a:solidFill>
                  <a:srgbClr val="C41230"/>
                </a:solidFill>
                <a:latin typeface="Segoe UI"/>
              </a:rPr>
              <a:t>WHAT THE AGENT CANNOT DO</a:t>
            </a:r>
          </a:p>
        </p:txBody>
      </p:sp>
      <p:sp>
        <p:nvSpPr>
          <p:cNvPr id="9" name="TextBox 8"/>
          <p:cNvSpPr txBox="1"/>
          <p:nvPr/>
        </p:nvSpPr>
        <p:spPr>
          <a:xfrm>
            <a:off x="777240" y="2286000"/>
            <a:ext cx="5120640" cy="3108960"/>
          </a:xfrm>
          <a:prstGeom prst="rect">
            <a:avLst/>
          </a:prstGeom>
          <a:noFill/>
        </p:spPr>
        <p:txBody>
          <a:bodyPr wrap="square" lIns="0" rIns="0" tIns="0" bIns="0">
            <a:spAutoFit/>
          </a:bodyPr>
          <a:lstStyle/>
          <a:p>
            <a:pPr>
              <a:lnSpc>
                <a:spcPct val="116000"/>
              </a:lnSpc>
              <a:spcAft>
                <a:spcPts val="1000"/>
              </a:spcAft>
            </a:pPr>
            <a:r>
              <a:rPr sz="1250">
                <a:solidFill>
                  <a:srgbClr val="C41230"/>
                </a:solidFill>
                <a:latin typeface="Segoe UI"/>
              </a:rPr>
              <a:t>▸  </a:t>
            </a:r>
            <a:r>
              <a:rPr sz="1250">
                <a:solidFill>
                  <a:srgbClr val="1C222E"/>
                </a:solidFill>
                <a:latin typeface="Segoe UI"/>
              </a:rPr>
              <a:t>Book a restaurant it did not search, or a time the backend never offered.</a:t>
            </a:r>
          </a:p>
          <a:p>
            <a:pPr>
              <a:lnSpc>
                <a:spcPct val="116000"/>
              </a:lnSpc>
              <a:spcAft>
                <a:spcPts val="1000"/>
              </a:spcAft>
            </a:pPr>
            <a:r>
              <a:rPr sz="1250">
                <a:solidFill>
                  <a:srgbClr val="C41230"/>
                </a:solidFill>
                <a:latin typeface="Segoe UI"/>
              </a:rPr>
              <a:t>▸  </a:t>
            </a:r>
            <a:r>
              <a:rPr sz="1250">
                <a:solidFill>
                  <a:srgbClr val="1C222E"/>
                </a:solidFill>
                <a:latin typeface="Segoe UI"/>
              </a:rPr>
              <a:t>Book without an email, a party size and a date the guest actually gave.</a:t>
            </a:r>
          </a:p>
          <a:p>
            <a:pPr>
              <a:lnSpc>
                <a:spcPct val="116000"/>
              </a:lnSpc>
              <a:spcAft>
                <a:spcPts val="1000"/>
              </a:spcAft>
            </a:pPr>
            <a:r>
              <a:rPr sz="1250">
                <a:solidFill>
                  <a:srgbClr val="C41230"/>
                </a:solidFill>
                <a:latin typeface="Segoe UI"/>
              </a:rPr>
              <a:t>▸  </a:t>
            </a:r>
            <a:r>
              <a:rPr sz="1250">
                <a:solidFill>
                  <a:srgbClr val="1C222E"/>
                </a:solidFill>
                <a:latin typeface="Segoe UI"/>
              </a:rPr>
              <a:t>Change a saved preference unless the guest asks it to.</a:t>
            </a:r>
          </a:p>
          <a:p>
            <a:pPr>
              <a:lnSpc>
                <a:spcPct val="116000"/>
              </a:lnSpc>
              <a:spcAft>
                <a:spcPts val="1000"/>
              </a:spcAft>
            </a:pPr>
            <a:r>
              <a:rPr sz="1250">
                <a:solidFill>
                  <a:srgbClr val="C41230"/>
                </a:solidFill>
                <a:latin typeface="Segoe UI"/>
              </a:rPr>
              <a:t>▸  </a:t>
            </a:r>
            <a:r>
              <a:rPr sz="1250">
                <a:solidFill>
                  <a:srgbClr val="1C222E"/>
                </a:solidFill>
                <a:latin typeface="Segoe UI"/>
              </a:rPr>
              <a:t>Cancel inside 24 hours. The backend refuses, and the agent passes that on.</a:t>
            </a:r>
          </a:p>
          <a:p>
            <a:pPr>
              <a:lnSpc>
                <a:spcPct val="116000"/>
              </a:lnSpc>
              <a:spcAft>
                <a:spcPts val="1000"/>
              </a:spcAft>
            </a:pPr>
            <a:r>
              <a:rPr sz="1250">
                <a:solidFill>
                  <a:srgbClr val="C41230"/>
                </a:solidFill>
                <a:latin typeface="Segoe UI"/>
              </a:rPr>
              <a:t>▸  </a:t>
            </a:r>
            <a:r>
              <a:rPr sz="1250">
                <a:solidFill>
                  <a:srgbClr val="1C222E"/>
                </a:solidFill>
                <a:latin typeface="Segoe UI"/>
              </a:rPr>
              <a:t>Answer anything outside dining.</a:t>
            </a:r>
          </a:p>
          <a:p>
            <a:pPr>
              <a:lnSpc>
                <a:spcPct val="116000"/>
              </a:lnSpc>
              <a:spcAft>
                <a:spcPts val="1000"/>
              </a:spcAft>
            </a:pPr>
            <a:r>
              <a:rPr sz="1250">
                <a:solidFill>
                  <a:srgbClr val="C41230"/>
                </a:solidFill>
                <a:latin typeface="Segoe UI"/>
              </a:rPr>
              <a:t>▸  </a:t>
            </a:r>
            <a:r>
              <a:rPr sz="1250">
                <a:solidFill>
                  <a:srgbClr val="1C222E"/>
                </a:solidFill>
                <a:latin typeface="Segoe UI"/>
              </a:rPr>
              <a:t>Use a tool its own permissions file does not list.</a:t>
            </a:r>
          </a:p>
        </p:txBody>
      </p:sp>
      <p:sp>
        <p:nvSpPr>
          <p:cNvPr id="10" name="TextBox 9"/>
          <p:cNvSpPr txBox="1"/>
          <p:nvPr/>
        </p:nvSpPr>
        <p:spPr>
          <a:xfrm>
            <a:off x="6446520" y="1965960"/>
            <a:ext cx="4937760" cy="274320"/>
          </a:xfrm>
          <a:prstGeom prst="rect">
            <a:avLst/>
          </a:prstGeom>
          <a:noFill/>
        </p:spPr>
        <p:txBody>
          <a:bodyPr wrap="square" lIns="0" rIns="0" tIns="0" bIns="0" anchor="t">
            <a:spAutoFit/>
          </a:bodyPr>
          <a:lstStyle/>
          <a:p>
            <a:pPr algn="l">
              <a:lnSpc>
                <a:spcPct val="100000"/>
              </a:lnSpc>
            </a:pPr>
            <a:r>
              <a:rPr sz="1000" b="1">
                <a:solidFill>
                  <a:srgbClr val="C41230"/>
                </a:solidFill>
                <a:latin typeface="Segoe UI"/>
              </a:rPr>
              <a:t>WHERE A PERSON DECIDES</a:t>
            </a:r>
          </a:p>
        </p:txBody>
      </p:sp>
      <p:sp>
        <p:nvSpPr>
          <p:cNvPr id="11" name="TextBox 10"/>
          <p:cNvSpPr txBox="1"/>
          <p:nvPr/>
        </p:nvSpPr>
        <p:spPr>
          <a:xfrm>
            <a:off x="6446520" y="2286000"/>
            <a:ext cx="4937760" cy="1371600"/>
          </a:xfrm>
          <a:prstGeom prst="rect">
            <a:avLst/>
          </a:prstGeom>
          <a:noFill/>
        </p:spPr>
        <p:txBody>
          <a:bodyPr wrap="square" lIns="0" rIns="0" tIns="0" bIns="0">
            <a:spAutoFit/>
          </a:bodyPr>
          <a:lstStyle/>
          <a:p>
            <a:pPr>
              <a:lnSpc>
                <a:spcPct val="116000"/>
              </a:lnSpc>
              <a:spcAft>
                <a:spcPts val="1000"/>
              </a:spcAft>
            </a:pPr>
            <a:r>
              <a:rPr sz="1250">
                <a:solidFill>
                  <a:srgbClr val="C41230"/>
                </a:solidFill>
                <a:latin typeface="Segoe UI"/>
              </a:rPr>
              <a:t>▸  </a:t>
            </a:r>
            <a:r>
              <a:rPr sz="1250">
                <a:solidFill>
                  <a:srgbClr val="1C222E"/>
                </a:solidFill>
                <a:latin typeface="Segoe UI"/>
              </a:rPr>
              <a:t>Every booking stops and waits for the guest to press Reserve. There is no setting that skips it.</a:t>
            </a:r>
          </a:p>
          <a:p>
            <a:pPr>
              <a:lnSpc>
                <a:spcPct val="116000"/>
              </a:lnSpc>
              <a:spcAft>
                <a:spcPts val="1000"/>
              </a:spcAft>
            </a:pPr>
            <a:r>
              <a:rPr sz="1250">
                <a:solidFill>
                  <a:srgbClr val="C41230"/>
                </a:solidFill>
                <a:latin typeface="Segoe UI"/>
              </a:rPr>
              <a:t>▸  </a:t>
            </a:r>
            <a:r>
              <a:rPr sz="1250">
                <a:solidFill>
                  <a:srgbClr val="1C222E"/>
                </a:solidFill>
                <a:latin typeface="Segoe UI"/>
              </a:rPr>
              <a:t>Anything that is not a clear yes counts as a no.</a:t>
            </a:r>
          </a:p>
          <a:p>
            <a:pPr>
              <a:lnSpc>
                <a:spcPct val="116000"/>
              </a:lnSpc>
              <a:spcAft>
                <a:spcPts val="1000"/>
              </a:spcAft>
            </a:pPr>
            <a:r>
              <a:rPr sz="1250">
                <a:solidFill>
                  <a:srgbClr val="C41230"/>
                </a:solidFill>
                <a:latin typeface="Segoe UI"/>
              </a:rPr>
              <a:t>▸  </a:t>
            </a:r>
            <a:r>
              <a:rPr sz="1250">
                <a:solidFill>
                  <a:srgbClr val="1C222E"/>
                </a:solidFill>
                <a:latin typeface="Segoe UI"/>
              </a:rPr>
              <a:t>Missing details are asked for, never guessed.</a:t>
            </a:r>
          </a:p>
        </p:txBody>
      </p:sp>
      <p:sp>
        <p:nvSpPr>
          <p:cNvPr id="12" name="TextBox 11"/>
          <p:cNvSpPr txBox="1"/>
          <p:nvPr/>
        </p:nvSpPr>
        <p:spPr>
          <a:xfrm>
            <a:off x="6446520" y="3977639"/>
            <a:ext cx="4937760" cy="274320"/>
          </a:xfrm>
          <a:prstGeom prst="rect">
            <a:avLst/>
          </a:prstGeom>
          <a:noFill/>
        </p:spPr>
        <p:txBody>
          <a:bodyPr wrap="square" lIns="0" rIns="0" tIns="0" bIns="0" anchor="t">
            <a:spAutoFit/>
          </a:bodyPr>
          <a:lstStyle/>
          <a:p>
            <a:pPr algn="l">
              <a:lnSpc>
                <a:spcPct val="100000"/>
              </a:lnSpc>
            </a:pPr>
            <a:r>
              <a:rPr sz="1000" b="1">
                <a:solidFill>
                  <a:srgbClr val="C41230"/>
                </a:solidFill>
                <a:latin typeface="Segoe UI"/>
              </a:rPr>
              <a:t>WHAT GETS RECORDED</a:t>
            </a:r>
          </a:p>
        </p:txBody>
      </p:sp>
      <p:sp>
        <p:nvSpPr>
          <p:cNvPr id="13" name="TextBox 12"/>
          <p:cNvSpPr txBox="1"/>
          <p:nvPr/>
        </p:nvSpPr>
        <p:spPr>
          <a:xfrm>
            <a:off x="6446520" y="4297680"/>
            <a:ext cx="4937760" cy="1371600"/>
          </a:xfrm>
          <a:prstGeom prst="rect">
            <a:avLst/>
          </a:prstGeom>
          <a:noFill/>
        </p:spPr>
        <p:txBody>
          <a:bodyPr wrap="square" lIns="0" rIns="0" tIns="0" bIns="0">
            <a:spAutoFit/>
          </a:bodyPr>
          <a:lstStyle/>
          <a:p>
            <a:pPr>
              <a:lnSpc>
                <a:spcPct val="116000"/>
              </a:lnSpc>
              <a:spcAft>
                <a:spcPts val="1000"/>
              </a:spcAft>
            </a:pPr>
            <a:r>
              <a:rPr sz="1250">
                <a:solidFill>
                  <a:srgbClr val="C41230"/>
                </a:solidFill>
                <a:latin typeface="Segoe UI"/>
              </a:rPr>
              <a:t>▸  </a:t>
            </a:r>
            <a:r>
              <a:rPr sz="1250">
                <a:solidFill>
                  <a:srgbClr val="1C222E"/>
                </a:solidFill>
                <a:latin typeface="Segoe UI"/>
              </a:rPr>
              <a:t>Every tool call, approval and removed claim, with the unit that did it and the time it happened.</a:t>
            </a:r>
          </a:p>
          <a:p>
            <a:pPr>
              <a:lnSpc>
                <a:spcPct val="116000"/>
              </a:lnSpc>
              <a:spcAft>
                <a:spcPts val="1000"/>
              </a:spcAft>
            </a:pPr>
            <a:r>
              <a:rPr sz="1250">
                <a:solidFill>
                  <a:srgbClr val="C41230"/>
                </a:solidFill>
                <a:latin typeface="Segoe UI"/>
              </a:rPr>
              <a:t>▸  </a:t>
            </a:r>
            <a:r>
              <a:rPr sz="1250">
                <a:solidFill>
                  <a:srgbClr val="1C222E"/>
                </a:solidFill>
                <a:latin typeface="Segoe UI"/>
              </a:rPr>
              <a:t>Written to a file as it goes, so the trail is still there after the demo, and shown live in the sidebar during it.</a:t>
            </a:r>
          </a:p>
        </p:txBody>
      </p:sp>
      <p:sp>
        <p:nvSpPr>
          <p:cNvPr id="14" name="TextBox 13"/>
          <p:cNvSpPr txBox="1"/>
          <p:nvPr/>
        </p:nvSpPr>
        <p:spPr>
          <a:xfrm>
            <a:off x="777240" y="5623560"/>
            <a:ext cx="5120640" cy="548640"/>
          </a:xfrm>
          <a:prstGeom prst="rect">
            <a:avLst/>
          </a:prstGeom>
          <a:noFill/>
        </p:spPr>
        <p:txBody>
          <a:bodyPr wrap="square" lIns="0" rIns="0" tIns="0" bIns="0" anchor="t">
            <a:spAutoFit/>
          </a:bodyPr>
          <a:lstStyle/>
          <a:p>
            <a:pPr algn="l">
              <a:lnSpc>
                <a:spcPct val="120000"/>
              </a:lnSpc>
            </a:pPr>
            <a:r>
              <a:rPr sz="1100" b="0">
                <a:solidFill>
                  <a:srgbClr val="535C6B"/>
                </a:solidFill>
                <a:latin typeface="Segoe UI"/>
              </a:rPr>
              <a:t>If it degrades, it degrades safely: with no API key it uses stored data rather than failing, and a missing detail becomes a question rather than a guess.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9. LIMITATIONS AND NEXT STEPS</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What is not done yet</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12</a:t>
            </a:r>
          </a:p>
        </p:txBody>
      </p:sp>
      <p:sp>
        <p:nvSpPr>
          <p:cNvPr id="7" name="TextBox 6"/>
          <p:cNvSpPr txBox="1"/>
          <p:nvPr/>
        </p:nvSpPr>
        <p:spPr>
          <a:xfrm>
            <a:off x="777240" y="1572768"/>
            <a:ext cx="10637215" cy="274320"/>
          </a:xfrm>
          <a:prstGeom prst="rect">
            <a:avLst/>
          </a:prstGeom>
          <a:noFill/>
        </p:spPr>
        <p:txBody>
          <a:bodyPr wrap="square" lIns="0" rIns="0" tIns="0" bIns="0" anchor="t">
            <a:spAutoFit/>
          </a:bodyPr>
          <a:lstStyle/>
          <a:p>
            <a:pPr algn="l">
              <a:lnSpc>
                <a:spcPct val="100000"/>
              </a:lnSpc>
            </a:pPr>
            <a:r>
              <a:rPr sz="1150" b="0">
                <a:solidFill>
                  <a:srgbClr val="535C6B"/>
                </a:solidFill>
                <a:latin typeface="Segoe UI"/>
              </a:rPr>
              <a:t>Five things the system does not do today, and what each one needs.</a:t>
            </a:r>
          </a:p>
        </p:txBody>
      </p:sp>
      <p:graphicFrame>
        <p:nvGraphicFramePr>
          <p:cNvPr id="8" name="Table 7"/>
          <p:cNvGraphicFramePr>
            <a:graphicFrameLocks noGrp="1"/>
          </p:cNvGraphicFramePr>
          <p:nvPr/>
        </p:nvGraphicFramePr>
        <p:xfrm>
          <a:off x="777240" y="1956816"/>
          <a:ext cx="10634471" cy="3401568"/>
        </p:xfrm>
        <a:graphic>
          <a:graphicData uri="http://schemas.openxmlformats.org/drawingml/2006/table">
            <a:tbl>
              <a:tblPr firstRow="1">
                <a:tableStyleId>{5C22544A-7EE6-4342-B048-85BDC9FD1C3A}</a:tableStyleId>
              </a:tblPr>
              <a:tblGrid>
                <a:gridCol w="3291840"/>
                <a:gridCol w="3749039"/>
                <a:gridCol w="3593592"/>
              </a:tblGrid>
              <a:tr h="566928">
                <a:tc>
                  <a:txBody>
                    <a:bodyPr wrap="square"/>
                    <a:lstStyle/>
                    <a:p>
                      <a:pPr>
                        <a:lnSpc>
                          <a:spcPct val="110000"/>
                        </a:lnSpc>
                      </a:pPr>
                      <a:r>
                        <a:rPr sz="1100" b="1">
                          <a:solidFill>
                            <a:srgbClr val="FFFFFF"/>
                          </a:solidFill>
                          <a:latin typeface="Segoe UI"/>
                        </a:rPr>
                        <a:t>What is missing</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Why it matters</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What it needs</a:t>
                      </a:r>
                    </a:p>
                  </a:txBody>
                  <a:tcPr marL="100584" marR="100584" marT="45720" marB="45720" anchor="ctr">
                    <a:solidFill>
                      <a:srgbClr val="C41230"/>
                    </a:solidFill>
                  </a:tcPr>
                </a:tc>
              </a:tr>
              <a:tr h="566928">
                <a:tc>
                  <a:txBody>
                    <a:bodyPr wrap="square"/>
                    <a:lstStyle/>
                    <a:p>
                      <a:pPr>
                        <a:lnSpc>
                          <a:spcPct val="110000"/>
                        </a:lnSpc>
                      </a:pPr>
                      <a:r>
                        <a:rPr sz="1050" b="0">
                          <a:solidFill>
                            <a:srgbClr val="1C222E"/>
                          </a:solidFill>
                          <a:latin typeface="Segoe UI"/>
                        </a:rPr>
                        <a:t>Nobody has tested the web lookup against a hostile page</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A restaurant page could contain text aimed at the agent, and it would be read as ordinary content</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Test it with hostile text, and treat whatever comes back as untrusted</a:t>
                      </a:r>
                    </a:p>
                  </a:txBody>
                  <a:tcPr marL="100584" marR="100584" marT="45720" marB="45720" anchor="ctr">
                    <a:solidFill>
                      <a:srgbClr val="FFFFFF"/>
                    </a:solidFill>
                  </a:tcPr>
                </a:tc>
              </a:tr>
              <a:tr h="566928">
                <a:tc>
                  <a:txBody>
                    <a:bodyPr wrap="square"/>
                    <a:lstStyle/>
                    <a:p>
                      <a:pPr>
                        <a:lnSpc>
                          <a:spcPct val="110000"/>
                        </a:lnSpc>
                      </a:pPr>
                      <a:r>
                        <a:rPr sz="1050" b="0">
                          <a:solidFill>
                            <a:srgbClr val="1C222E"/>
                          </a:solidFill>
                          <a:latin typeface="Segoe UI"/>
                        </a:rPr>
                        <a:t>The reply check does not cover dish or restaurant names</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An invented time is caught before the guest sees it. An invented dish is not</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A second model to check names, if it turns out to be worth the cost</a:t>
                      </a:r>
                    </a:p>
                  </a:txBody>
                  <a:tcPr marL="100584" marR="100584" marT="45720" marB="45720" anchor="ctr">
                    <a:solidFill>
                      <a:srgbClr val="F3F4F6"/>
                    </a:solidFill>
                  </a:tcPr>
                </a:tc>
              </a:tr>
              <a:tr h="566928">
                <a:tc>
                  <a:txBody>
                    <a:bodyPr wrap="square"/>
                    <a:lstStyle/>
                    <a:p>
                      <a:pPr>
                        <a:lnSpc>
                          <a:spcPct val="110000"/>
                        </a:lnSpc>
                      </a:pPr>
                      <a:r>
                        <a:rPr sz="1050" b="0">
                          <a:solidFill>
                            <a:srgbClr val="1C222E"/>
                          </a:solidFill>
                          <a:latin typeface="Segoe UI"/>
                        </a:rPr>
                        <a:t>The booking database and the saved profile are separate</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Cancel a booking outside the app and the guest's history still shows it</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Keep the two in step, so a cancellation reaches what the agent remembers</a:t>
                      </a:r>
                    </a:p>
                  </a:txBody>
                  <a:tcPr marL="100584" marR="100584" marT="45720" marB="45720" anchor="ctr">
                    <a:solidFill>
                      <a:srgbClr val="FFFFFF"/>
                    </a:solidFill>
                  </a:tcPr>
                </a:tc>
              </a:tr>
              <a:tr h="566928">
                <a:tc>
                  <a:txBody>
                    <a:bodyPr wrap="square"/>
                    <a:lstStyle/>
                    <a:p>
                      <a:pPr>
                        <a:lnSpc>
                          <a:spcPct val="110000"/>
                        </a:lnSpc>
                      </a:pPr>
                      <a:r>
                        <a:rPr sz="1050" b="0">
                          <a:solidFill>
                            <a:srgbClr val="1C222E"/>
                          </a:solidFill>
                          <a:latin typeface="Segoe UI"/>
                        </a:rPr>
                        <a:t>The reply check runs but is never reported</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A change to the prompt could make the model looser and no test would notice</a:t>
                      </a:r>
                    </a:p>
                  </a:txBody>
                  <a:tcPr marL="100584" marR="100584" marT="45720" marB="45720" anchor="ctr">
                    <a:solidFill>
                      <a:srgbClr val="F3F4F6"/>
                    </a:solidFill>
                  </a:tcPr>
                </a:tc>
                <a:tc>
                  <a:txBody>
                    <a:bodyPr wrap="square"/>
                    <a:lstStyle/>
                    <a:p>
                      <a:pPr>
                        <a:lnSpc>
                          <a:spcPct val="110000"/>
                        </a:lnSpc>
                      </a:pPr>
                      <a:r>
                        <a:rPr sz="1050" b="0">
                          <a:solidFill>
                            <a:srgbClr val="1C222E"/>
                          </a:solidFill>
                          <a:latin typeface="Segoe UI"/>
                        </a:rPr>
                        <a:t>Show the rate of removed claims somewhere I can watch it</a:t>
                      </a:r>
                    </a:p>
                  </a:txBody>
                  <a:tcPr marL="100584" marR="100584" marT="45720" marB="45720" anchor="ctr">
                    <a:solidFill>
                      <a:srgbClr val="F3F4F6"/>
                    </a:solidFill>
                  </a:tcPr>
                </a:tc>
              </a:tr>
              <a:tr h="566928">
                <a:tc>
                  <a:txBody>
                    <a:bodyPr wrap="square"/>
                    <a:lstStyle/>
                    <a:p>
                      <a:pPr>
                        <a:lnSpc>
                          <a:spcPct val="110000"/>
                        </a:lnSpc>
                      </a:pPr>
                      <a:r>
                        <a:rPr sz="1050" b="0">
                          <a:solidFill>
                            <a:srgbClr val="1C222E"/>
                          </a:solidFill>
                          <a:latin typeface="Segoe UI"/>
                        </a:rPr>
                        <a:t>The database holds one guest at a time</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It is a prototype store, not something ready for real use</a:t>
                      </a:r>
                    </a:p>
                  </a:txBody>
                  <a:tcPr marL="100584" marR="100584" marT="45720" marB="45720" anchor="ctr">
                    <a:solidFill>
                      <a:srgbClr val="FFFFFF"/>
                    </a:solidFill>
                  </a:tcPr>
                </a:tc>
                <a:tc>
                  <a:txBody>
                    <a:bodyPr wrap="square"/>
                    <a:lstStyle/>
                    <a:p>
                      <a:pPr>
                        <a:lnSpc>
                          <a:spcPct val="110000"/>
                        </a:lnSpc>
                      </a:pPr>
                      <a:r>
                        <a:rPr sz="1050" b="0">
                          <a:solidFill>
                            <a:srgbClr val="1C222E"/>
                          </a:solidFill>
                          <a:latin typeface="Segoe UI"/>
                        </a:rPr>
                        <a:t>A multi user database, and a limit on how often one person can book</a:t>
                      </a:r>
                    </a:p>
                  </a:txBody>
                  <a:tcPr marL="100584" marR="100584" marT="45720" marB="45720" anchor="ctr">
                    <a:solidFill>
                      <a:srgbClr val="FFFFFF"/>
                    </a:solidFill>
                  </a:tcPr>
                </a:tc>
              </a:tr>
            </a:tbl>
          </a:graphicData>
        </a:graphic>
      </p:graphicFrame>
      <p:sp>
        <p:nvSpPr>
          <p:cNvPr id="9" name="TextBox 8"/>
          <p:cNvSpPr txBox="1"/>
          <p:nvPr/>
        </p:nvSpPr>
        <p:spPr>
          <a:xfrm>
            <a:off x="777240" y="5806440"/>
            <a:ext cx="10637215" cy="365760"/>
          </a:xfrm>
          <a:prstGeom prst="rect">
            <a:avLst/>
          </a:prstGeom>
          <a:noFill/>
        </p:spPr>
        <p:txBody>
          <a:bodyPr wrap="square" lIns="0" rIns="0" tIns="0" bIns="0" anchor="t">
            <a:spAutoFit/>
          </a:bodyPr>
          <a:lstStyle/>
          <a:p>
            <a:pPr algn="l">
              <a:lnSpc>
                <a:spcPct val="115000"/>
              </a:lnSpc>
            </a:pPr>
            <a:r>
              <a:rPr sz="1100" b="0">
                <a:solidFill>
                  <a:srgbClr val="535C6B"/>
                </a:solidFill>
                <a:latin typeface="Segoe UI"/>
              </a:rPr>
              <a:t>One more that is about shape rather than a gap: this design handles permissions well and complicated planning less well. An evening across three venues, where travel time and closing hours matter, is a different problem.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475488"/>
            <a:ext cx="10637215" cy="274320"/>
          </a:xfrm>
          <a:prstGeom prst="rect">
            <a:avLst/>
          </a:prstGeom>
          <a:noFill/>
        </p:spPr>
        <p:txBody>
          <a:bodyPr wrap="square" lIns="0" rIns="0" tIns="0" bIns="0" anchor="t">
            <a:spAutoFit/>
          </a:bodyPr>
          <a:lstStyle/>
          <a:p>
            <a:pPr algn="l">
              <a:lnSpc>
                <a:spcPct val="100000"/>
              </a:lnSpc>
            </a:pPr>
            <a:r>
              <a:rPr sz="1050" b="1">
                <a:solidFill>
                  <a:srgbClr val="C41230"/>
                </a:solidFill>
                <a:latin typeface="Segoe UI"/>
              </a:rPr>
              <a:t>10. PUBLIC GITHUB REPOSITORY</a:t>
            </a:r>
          </a:p>
        </p:txBody>
      </p:sp>
      <p:sp>
        <p:nvSpPr>
          <p:cNvPr id="3" name="TextBox 2"/>
          <p:cNvSpPr txBox="1"/>
          <p:nvPr/>
        </p:nvSpPr>
        <p:spPr>
          <a:xfrm>
            <a:off x="777240" y="749808"/>
            <a:ext cx="10637215" cy="566928"/>
          </a:xfrm>
          <a:prstGeom prst="rect">
            <a:avLst/>
          </a:prstGeom>
          <a:noFill/>
        </p:spPr>
        <p:txBody>
          <a:bodyPr wrap="square" lIns="0" rIns="0" tIns="0" bIns="0" anchor="t">
            <a:spAutoFit/>
          </a:bodyPr>
          <a:lstStyle/>
          <a:p>
            <a:pPr algn="l">
              <a:lnSpc>
                <a:spcPct val="100000"/>
              </a:lnSpc>
            </a:pPr>
            <a:r>
              <a:rPr sz="2700" b="1">
                <a:solidFill>
                  <a:srgbClr val="1C222E"/>
                </a:solidFill>
                <a:latin typeface="Georgia"/>
              </a:rPr>
              <a:t>The repository</a:t>
            </a:r>
          </a:p>
        </p:txBody>
      </p:sp>
      <p:sp>
        <p:nvSpPr>
          <p:cNvPr id="4" name="Rectangle 3"/>
          <p:cNvSpPr/>
          <p:nvPr/>
        </p:nvSpPr>
        <p:spPr>
          <a:xfrm>
            <a:off x="777240" y="1389888"/>
            <a:ext cx="822960" cy="381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27648"/>
            <a:ext cx="7315200" cy="228600"/>
          </a:xfrm>
          <a:prstGeom prst="rect">
            <a:avLst/>
          </a:prstGeom>
          <a:noFill/>
        </p:spPr>
        <p:txBody>
          <a:bodyPr wrap="square" lIns="0" rIns="0" tIns="0" bIns="0" anchor="t">
            <a:spAutoFit/>
          </a:bodyPr>
          <a:lstStyle/>
          <a:p>
            <a:pPr algn="l">
              <a:lnSpc>
                <a:spcPct val="100000"/>
              </a:lnSpc>
            </a:pPr>
            <a:r>
              <a:rPr sz="900" b="0">
                <a:solidFill>
                  <a:srgbClr val="8A929E"/>
                </a:solidFill>
                <a:latin typeface="Segoe UI"/>
              </a:rPr>
              <a:t>Table for Four  ·  Capstone Final Report  ·  Manish Bhatt</a:t>
            </a:r>
          </a:p>
        </p:txBody>
      </p:sp>
      <p:sp>
        <p:nvSpPr>
          <p:cNvPr id="6" name="TextBox 5"/>
          <p:cNvSpPr txBox="1"/>
          <p:nvPr/>
        </p:nvSpPr>
        <p:spPr>
          <a:xfrm>
            <a:off x="10607040" y="6327648"/>
            <a:ext cx="804672" cy="228600"/>
          </a:xfrm>
          <a:prstGeom prst="rect">
            <a:avLst/>
          </a:prstGeom>
          <a:noFill/>
        </p:spPr>
        <p:txBody>
          <a:bodyPr wrap="square" lIns="0" rIns="0" tIns="0" bIns="0" anchor="t">
            <a:spAutoFit/>
          </a:bodyPr>
          <a:lstStyle/>
          <a:p>
            <a:pPr algn="r">
              <a:lnSpc>
                <a:spcPct val="100000"/>
              </a:lnSpc>
            </a:pPr>
            <a:r>
              <a:rPr sz="900" b="0">
                <a:solidFill>
                  <a:srgbClr val="8A929E"/>
                </a:solidFill>
                <a:latin typeface="Segoe UI"/>
              </a:rPr>
              <a:t>13</a:t>
            </a:r>
          </a:p>
        </p:txBody>
      </p:sp>
      <p:sp>
        <p:nvSpPr>
          <p:cNvPr id="7" name="Rectangle 6"/>
          <p:cNvSpPr/>
          <p:nvPr/>
        </p:nvSpPr>
        <p:spPr>
          <a:xfrm>
            <a:off x="777240" y="1783080"/>
            <a:ext cx="10637215" cy="713232"/>
          </a:xfrm>
          <a:prstGeom prst="rect">
            <a:avLst/>
          </a:prstGeom>
          <a:solidFill>
            <a:srgbClr val="1C222E"/>
          </a:solidFill>
          <a:ln w="12700">
            <a:solidFill>
              <a:srgbClr val="1C22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75104"/>
            <a:ext cx="10058400" cy="365760"/>
          </a:xfrm>
          <a:prstGeom prst="rect">
            <a:avLst/>
          </a:prstGeom>
          <a:noFill/>
        </p:spPr>
        <p:txBody>
          <a:bodyPr wrap="square" lIns="0" rIns="0" tIns="0" bIns="0" anchor="t">
            <a:spAutoFit/>
          </a:bodyPr>
          <a:lstStyle/>
          <a:p>
            <a:pPr algn="l">
              <a:lnSpc>
                <a:spcPct val="100000"/>
              </a:lnSpc>
            </a:pPr>
            <a:r>
              <a:rPr sz="1900" b="1">
                <a:solidFill>
                  <a:srgbClr val="FFFFFF"/>
                </a:solidFill>
                <a:latin typeface="Georgia"/>
              </a:rPr>
              <a:t>github.com/manishbhatt19/table-for-four</a:t>
            </a:r>
          </a:p>
        </p:txBody>
      </p:sp>
      <p:graphicFrame>
        <p:nvGraphicFramePr>
          <p:cNvPr id="9" name="Table 8"/>
          <p:cNvGraphicFramePr>
            <a:graphicFrameLocks noGrp="1"/>
          </p:cNvGraphicFramePr>
          <p:nvPr/>
        </p:nvGraphicFramePr>
        <p:xfrm>
          <a:off x="777240" y="2788920"/>
          <a:ext cx="10634472" cy="2743200"/>
        </p:xfrm>
        <a:graphic>
          <a:graphicData uri="http://schemas.openxmlformats.org/drawingml/2006/table">
            <a:tbl>
              <a:tblPr firstRow="1">
                <a:tableStyleId>{5C22544A-7EE6-4342-B048-85BDC9FD1C3A}</a:tableStyleId>
              </a:tblPr>
              <a:tblGrid>
                <a:gridCol w="5577840"/>
                <a:gridCol w="5056632"/>
              </a:tblGrid>
              <a:tr h="457200">
                <a:tc>
                  <a:txBody>
                    <a:bodyPr wrap="square"/>
                    <a:lstStyle/>
                    <a:p>
                      <a:pPr>
                        <a:lnSpc>
                          <a:spcPct val="110000"/>
                        </a:lnSpc>
                      </a:pPr>
                      <a:r>
                        <a:rPr sz="1100" b="1">
                          <a:solidFill>
                            <a:srgbClr val="FFFFFF"/>
                          </a:solidFill>
                          <a:latin typeface="Segoe UI"/>
                        </a:rPr>
                        <a:t>What is in it</a:t>
                      </a:r>
                    </a:p>
                  </a:txBody>
                  <a:tcPr marL="100584" marR="100584" marT="45720" marB="45720" anchor="ctr">
                    <a:solidFill>
                      <a:srgbClr val="C41230"/>
                    </a:solidFill>
                  </a:tcPr>
                </a:tc>
                <a:tc>
                  <a:txBody>
                    <a:bodyPr wrap="square"/>
                    <a:lstStyle/>
                    <a:p>
                      <a:pPr>
                        <a:lnSpc>
                          <a:spcPct val="110000"/>
                        </a:lnSpc>
                      </a:pPr>
                      <a:r>
                        <a:rPr sz="1100" b="1">
                          <a:solidFill>
                            <a:srgbClr val="FFFFFF"/>
                          </a:solidFill>
                          <a:latin typeface="Segoe UI"/>
                        </a:rPr>
                        <a:t>How to run it</a:t>
                      </a:r>
                    </a:p>
                  </a:txBody>
                  <a:tcPr marL="100584" marR="100584" marT="45720" marB="45720" anchor="ctr">
                    <a:solidFill>
                      <a:srgbClr val="C41230"/>
                    </a:solidFill>
                  </a:tcPr>
                </a:tc>
              </a:tr>
              <a:tr h="457200">
                <a:tc>
                  <a:txBody>
                    <a:bodyPr wrap="square"/>
                    <a:lstStyle/>
                    <a:p>
                      <a:pPr>
                        <a:lnSpc>
                          <a:spcPct val="110000"/>
                        </a:lnSpc>
                      </a:pPr>
                      <a:r>
                        <a:rPr sz="1150" b="0">
                          <a:solidFill>
                            <a:srgbClr val="1C222E"/>
                          </a:solidFill>
                          <a:latin typeface="Segoe UI"/>
                        </a:rPr>
                        <a:t>README: the problem, the architecture, setup and usage</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uv sync</a:t>
                      </a:r>
                    </a:p>
                  </a:txBody>
                  <a:tcPr marL="100584" marR="100584" marT="45720" marB="45720" anchor="ctr">
                    <a:solidFill>
                      <a:srgbClr val="FFFFFF"/>
                    </a:solidFill>
                  </a:tcPr>
                </a:tc>
              </a:tr>
              <a:tr h="457200">
                <a:tc>
                  <a:txBody>
                    <a:bodyPr wrap="square"/>
                    <a:lstStyle/>
                    <a:p>
                      <a:pPr>
                        <a:lnSpc>
                          <a:spcPct val="110000"/>
                        </a:lnSpc>
                      </a:pPr>
                      <a:r>
                        <a:rPr sz="1150" b="0">
                          <a:solidFill>
                            <a:srgbClr val="1C222E"/>
                          </a:solidFill>
                          <a:latin typeface="Segoe UI"/>
                        </a:rPr>
                        <a:t>src/table_for_four: one package per MCP server, the agent, governance, the app</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uv run pytest -q</a:t>
                      </a:r>
                    </a:p>
                  </a:txBody>
                  <a:tcPr marL="100584" marR="100584" marT="45720" marB="45720" anchor="ctr">
                    <a:solidFill>
                      <a:srgbClr val="F3F4F6"/>
                    </a:solidFill>
                  </a:tcPr>
                </a:tc>
              </a:tr>
              <a:tr h="457200">
                <a:tc>
                  <a:txBody>
                    <a:bodyPr wrap="square"/>
                    <a:lstStyle/>
                    <a:p>
                      <a:pPr>
                        <a:lnSpc>
                          <a:spcPct val="110000"/>
                        </a:lnSpc>
                      </a:pPr>
                      <a:r>
                        <a:rPr sz="1150" b="0">
                          <a:solidFill>
                            <a:srgbClr val="1C222E"/>
                          </a:solidFill>
                          <a:latin typeface="Segoe UI"/>
                        </a:rPr>
                        <a:t>docs/: the weekly submissions, the design document, this deck</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uv run streamlit run src/table_for_four/ui/chat_app.py</a:t>
                      </a:r>
                    </a:p>
                  </a:txBody>
                  <a:tcPr marL="100584" marR="100584" marT="45720" marB="45720" anchor="ctr">
                    <a:solidFill>
                      <a:srgbClr val="FFFFFF"/>
                    </a:solidFill>
                  </a:tcPr>
                </a:tc>
              </a:tr>
              <a:tr h="457200">
                <a:tc>
                  <a:txBody>
                    <a:bodyPr wrap="square"/>
                    <a:lstStyle/>
                    <a:p>
                      <a:pPr>
                        <a:lnSpc>
                          <a:spcPct val="110000"/>
                        </a:lnSpc>
                      </a:pPr>
                      <a:r>
                        <a:rPr sz="1150" b="0">
                          <a:solidFill>
                            <a:srgbClr val="1C222E"/>
                          </a:solidFill>
                          <a:latin typeface="Segoe UI"/>
                        </a:rPr>
                        <a:t>tests/: 233 tests that run offline</a:t>
                      </a:r>
                    </a:p>
                  </a:txBody>
                  <a:tcPr marL="100584" marR="100584" marT="45720" marB="45720" anchor="ctr">
                    <a:solidFill>
                      <a:srgbClr val="F3F4F6"/>
                    </a:solidFill>
                  </a:tcPr>
                </a:tc>
                <a:tc>
                  <a:txBody>
                    <a:bodyPr wrap="square"/>
                    <a:lstStyle/>
                    <a:p>
                      <a:pPr>
                        <a:lnSpc>
                          <a:spcPct val="110000"/>
                        </a:lnSpc>
                      </a:pPr>
                      <a:r>
                        <a:rPr sz="1150" b="0">
                          <a:solidFill>
                            <a:srgbClr val="1C222E"/>
                          </a:solidFill>
                          <a:latin typeface="Segoe UI"/>
                        </a:rPr>
                        <a:t>uv run langgraph dev</a:t>
                      </a:r>
                    </a:p>
                  </a:txBody>
                  <a:tcPr marL="100584" marR="100584" marT="45720" marB="45720" anchor="ctr">
                    <a:solidFill>
                      <a:srgbClr val="F3F4F6"/>
                    </a:solidFill>
                  </a:tcPr>
                </a:tc>
              </a:tr>
              <a:tr h="457200">
                <a:tc>
                  <a:txBody>
                    <a:bodyPr wrap="square"/>
                    <a:lstStyle/>
                    <a:p>
                      <a:pPr>
                        <a:lnSpc>
                          <a:spcPct val="110000"/>
                        </a:lnSpc>
                      </a:pPr>
                      <a:r>
                        <a:rPr sz="1150" b="0">
                          <a:solidFill>
                            <a:srgbClr val="1C222E"/>
                          </a:solidFill>
                          <a:latin typeface="Segoe UI"/>
                        </a:rPr>
                        <a:t>The evaluation script for the perks retrieval</a:t>
                      </a:r>
                    </a:p>
                  </a:txBody>
                  <a:tcPr marL="100584" marR="100584" marT="45720" marB="45720" anchor="ctr">
                    <a:solidFill>
                      <a:srgbClr val="FFFFFF"/>
                    </a:solidFill>
                  </a:tcPr>
                </a:tc>
                <a:tc>
                  <a:txBody>
                    <a:bodyPr wrap="square"/>
                    <a:lstStyle/>
                    <a:p>
                      <a:pPr>
                        <a:lnSpc>
                          <a:spcPct val="110000"/>
                        </a:lnSpc>
                      </a:pPr>
                      <a:r>
                        <a:rPr sz="1150" b="0">
                          <a:solidFill>
                            <a:srgbClr val="1C222E"/>
                          </a:solidFill>
                          <a:latin typeface="Segoe UI"/>
                        </a:rPr>
                        <a:t>uv run python -m table_for_four.mcp_servers.perks.eval</a:t>
                      </a:r>
                    </a:p>
                  </a:txBody>
                  <a:tcPr marL="100584" marR="100584" marT="45720" marB="45720" anchor="ctr">
                    <a:solidFill>
                      <a:srgbClr val="FFFFFF"/>
                    </a:solidFill>
                  </a:tcPr>
                </a:tc>
              </a:tr>
            </a:tbl>
          </a:graphicData>
        </a:graphic>
      </p:graphicFrame>
      <p:sp>
        <p:nvSpPr>
          <p:cNvPr id="10" name="TextBox 9"/>
          <p:cNvSpPr txBox="1"/>
          <p:nvPr/>
        </p:nvSpPr>
        <p:spPr>
          <a:xfrm>
            <a:off x="777240" y="5623560"/>
            <a:ext cx="10637215" cy="365760"/>
          </a:xfrm>
          <a:prstGeom prst="rect">
            <a:avLst/>
          </a:prstGeom>
          <a:noFill/>
        </p:spPr>
        <p:txBody>
          <a:bodyPr wrap="square" lIns="0" rIns="0" tIns="0" bIns="0" anchor="t">
            <a:spAutoFit/>
          </a:bodyPr>
          <a:lstStyle/>
          <a:p>
            <a:pPr algn="l">
              <a:lnSpc>
                <a:spcPct val="100000"/>
              </a:lnSpc>
            </a:pPr>
            <a:r>
              <a:rPr sz="1150" b="0">
                <a:solidFill>
                  <a:srgbClr val="535C6B"/>
                </a:solidFill>
                <a:latin typeface="Segoe UI"/>
              </a:rPr>
              <a:t>No keys needed: stored data stands in for Google Places, Tavily and the model, so anyone can clone it and run it as it 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7863840" y="4846320"/>
            <a:ext cx="4327855" cy="2011680"/>
          </a:xfrm>
          <a:prstGeom prst="rtTriangle">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2331720"/>
            <a:ext cx="1005840" cy="50800"/>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697480"/>
            <a:ext cx="9326880" cy="914400"/>
          </a:xfrm>
          <a:prstGeom prst="rect">
            <a:avLst/>
          </a:prstGeom>
          <a:noFill/>
        </p:spPr>
        <p:txBody>
          <a:bodyPr wrap="square" lIns="0" rIns="0" tIns="0" bIns="0" anchor="t">
            <a:spAutoFit/>
          </a:bodyPr>
          <a:lstStyle/>
          <a:p>
            <a:pPr algn="l">
              <a:lnSpc>
                <a:spcPct val="100000"/>
              </a:lnSpc>
            </a:pPr>
            <a:r>
              <a:rPr sz="4000" b="1">
                <a:solidFill>
                  <a:srgbClr val="FFFFFF"/>
                </a:solidFill>
                <a:latin typeface="Georgia"/>
              </a:rPr>
              <a:t>Thank you</a:t>
            </a:r>
          </a:p>
        </p:txBody>
      </p:sp>
      <p:sp>
        <p:nvSpPr>
          <p:cNvPr id="6" name="TextBox 5"/>
          <p:cNvSpPr txBox="1"/>
          <p:nvPr/>
        </p:nvSpPr>
        <p:spPr>
          <a:xfrm>
            <a:off x="868680" y="3703320"/>
            <a:ext cx="9326880" cy="457200"/>
          </a:xfrm>
          <a:prstGeom prst="rect">
            <a:avLst/>
          </a:prstGeom>
          <a:noFill/>
        </p:spPr>
        <p:txBody>
          <a:bodyPr wrap="square" lIns="0" rIns="0" tIns="0" bIns="0" anchor="t">
            <a:spAutoFit/>
          </a:bodyPr>
          <a:lstStyle/>
          <a:p>
            <a:pPr algn="l">
              <a:lnSpc>
                <a:spcPct val="100000"/>
              </a:lnSpc>
            </a:pPr>
            <a:r>
              <a:rPr sz="1500" b="0">
                <a:solidFill>
                  <a:srgbClr val="C9CFD8"/>
                </a:solidFill>
                <a:latin typeface="Segoe UI"/>
              </a:rPr>
              <a:t>Happy to take questions, or walk through any part of the code.</a:t>
            </a:r>
          </a:p>
        </p:txBody>
      </p:sp>
      <p:sp>
        <p:nvSpPr>
          <p:cNvPr id="7" name="TextBox 6"/>
          <p:cNvSpPr txBox="1"/>
          <p:nvPr/>
        </p:nvSpPr>
        <p:spPr>
          <a:xfrm>
            <a:off x="868680" y="4526280"/>
            <a:ext cx="7315200" cy="365760"/>
          </a:xfrm>
          <a:prstGeom prst="rect">
            <a:avLst/>
          </a:prstGeom>
          <a:noFill/>
        </p:spPr>
        <p:txBody>
          <a:bodyPr wrap="square" lIns="0" rIns="0" tIns="0" bIns="0" anchor="t">
            <a:spAutoFit/>
          </a:bodyPr>
          <a:lstStyle/>
          <a:p>
            <a:pPr algn="l">
              <a:lnSpc>
                <a:spcPct val="100000"/>
              </a:lnSpc>
            </a:pPr>
            <a:r>
              <a:rPr sz="1500" b="1">
                <a:solidFill>
                  <a:srgbClr val="FFFFFF"/>
                </a:solidFill>
                <a:latin typeface="Georgia"/>
              </a:rPr>
              <a:t>github.com/manishbhatt19/table-for-four</a:t>
            </a:r>
          </a:p>
        </p:txBody>
      </p:sp>
      <p:sp>
        <p:nvSpPr>
          <p:cNvPr id="8" name="TextBox 7"/>
          <p:cNvSpPr txBox="1"/>
          <p:nvPr/>
        </p:nvSpPr>
        <p:spPr>
          <a:xfrm>
            <a:off x="868680" y="4983480"/>
            <a:ext cx="7315200" cy="365760"/>
          </a:xfrm>
          <a:prstGeom prst="rect">
            <a:avLst/>
          </a:prstGeom>
          <a:noFill/>
        </p:spPr>
        <p:txBody>
          <a:bodyPr wrap="square" lIns="0" rIns="0" tIns="0" bIns="0" anchor="t">
            <a:spAutoFit/>
          </a:bodyPr>
          <a:lstStyle/>
          <a:p>
            <a:pPr algn="l">
              <a:lnSpc>
                <a:spcPct val="100000"/>
              </a:lnSpc>
            </a:pPr>
            <a:r>
              <a:rPr sz="1200" b="0">
                <a:solidFill>
                  <a:srgbClr val="9AA3B0"/>
                </a:solidFill>
                <a:latin typeface="Segoe UI"/>
              </a:rPr>
              <a:t>Manish Bhatt  ·  CMU AI Agent Certification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